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pic>
        <p:nvPicPr>
          <p:cNvPr id="52" name="Image 0" descr="/Volumes/laxer/codes/skills/industrial-deep-diagnostic/ppt_workspace/garden-gpt-image-2/image/cover-industrial-blueprint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5394960" y="502920"/>
            <a:ext cx="6355080" cy="3584448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566928" y="7132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薄膜双拉在线工艺优化</a:t>
            </a:r>
            <a:endParaRPr lang="en-US" sz="2700" dirty="0"/>
          </a:p>
        </p:txBody>
      </p:sp>
      <p:sp>
        <p:nvSpPr>
          <p:cNvPr id="54" name="Text 51"/>
          <p:cNvSpPr/>
          <p:nvPr/>
        </p:nvSpPr>
        <p:spPr>
          <a:xfrm>
            <a:off x="566928" y="12070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DDDF1"/>
                </a:solidFill>
              </a:rPr>
              <a:t>Agent 平台设计方案</a:t>
            </a:r>
            <a:endParaRPr lang="en-US" sz="2500" dirty="0"/>
          </a:p>
        </p:txBody>
      </p:sp>
      <p:sp>
        <p:nvSpPr>
          <p:cNvPr id="55" name="Text 52"/>
          <p:cNvSpPr/>
          <p:nvPr/>
        </p:nvSpPr>
        <p:spPr>
          <a:xfrm>
            <a:off x="585216" y="18653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7E8"/>
                </a:solidFill>
              </a:rPr>
              <a:t>从设备接口到可审计、可回滚、可学习的研发参数闭环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585216" y="2505456"/>
            <a:ext cx="1207008" cy="256032"/>
          </a:xfrm>
          <a:prstGeom prst="roundRect">
            <a:avLst>
              <a:gd name="adj" fmla="val 21429"/>
            </a:avLst>
          </a:prstGeom>
          <a:solidFill>
            <a:srgbClr val="163B54"/>
          </a:solidFill>
          <a:ln w="8890">
            <a:solidFill>
              <a:srgbClr val="8DDDF1">
                <a:alpha val="3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080" y="2562149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8DDDF1"/>
                </a:solidFill>
              </a:rPr>
              <a:t>MCP 工业连接</a:t>
            </a:r>
            <a:endParaRPr lang="en-US" sz="680" dirty="0"/>
          </a:p>
        </p:txBody>
      </p:sp>
      <p:sp>
        <p:nvSpPr>
          <p:cNvPr id="58" name="Shape 55"/>
          <p:cNvSpPr/>
          <p:nvPr/>
        </p:nvSpPr>
        <p:spPr>
          <a:xfrm>
            <a:off x="1911096" y="2505456"/>
            <a:ext cx="1207008" cy="256032"/>
          </a:xfrm>
          <a:prstGeom prst="roundRect">
            <a:avLst>
              <a:gd name="adj" fmla="val 21429"/>
            </a:avLst>
          </a:prstGeom>
          <a:solidFill>
            <a:srgbClr val="163B54"/>
          </a:solidFill>
          <a:ln w="8890">
            <a:solidFill>
              <a:srgbClr val="7AE0B8">
                <a:alpha val="3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965960" y="2562149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AE0B8"/>
                </a:solidFill>
              </a:rPr>
              <a:t>Skill 标准作业</a:t>
            </a:r>
            <a:endParaRPr lang="en-US" sz="680" dirty="0"/>
          </a:p>
        </p:txBody>
      </p:sp>
      <p:sp>
        <p:nvSpPr>
          <p:cNvPr id="60" name="Shape 57"/>
          <p:cNvSpPr/>
          <p:nvPr/>
        </p:nvSpPr>
        <p:spPr>
          <a:xfrm>
            <a:off x="3236976" y="2505456"/>
            <a:ext cx="1207008" cy="256032"/>
          </a:xfrm>
          <a:prstGeom prst="roundRect">
            <a:avLst>
              <a:gd name="adj" fmla="val 21429"/>
            </a:avLst>
          </a:prstGeom>
          <a:solidFill>
            <a:srgbClr val="163B54"/>
          </a:solidFill>
          <a:ln w="8890">
            <a:solidFill>
              <a:srgbClr val="C8B6FF">
                <a:alpha val="3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291840" y="2562149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8B6FF"/>
                </a:solidFill>
              </a:rPr>
              <a:t>Agent 编排决策</a:t>
            </a:r>
            <a:endParaRPr lang="en-US" sz="680" dirty="0"/>
          </a:p>
        </p:txBody>
      </p:sp>
      <p:sp>
        <p:nvSpPr>
          <p:cNvPr id="62" name="Shape 59"/>
          <p:cNvSpPr/>
          <p:nvPr/>
        </p:nvSpPr>
        <p:spPr>
          <a:xfrm>
            <a:off x="4562856" y="2505456"/>
            <a:ext cx="1207008" cy="256032"/>
          </a:xfrm>
          <a:prstGeom prst="roundRect">
            <a:avLst>
              <a:gd name="adj" fmla="val 21429"/>
            </a:avLst>
          </a:prstGeom>
          <a:solidFill>
            <a:srgbClr val="163B54"/>
          </a:solidFill>
          <a:ln w="8890">
            <a:solidFill>
              <a:srgbClr val="FFB5AD">
                <a:alpha val="30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17720" y="2562149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B5AD"/>
                </a:solidFill>
              </a:rPr>
              <a:t>Safety Gate 硬放行</a:t>
            </a:r>
            <a:endParaRPr lang="en-US" sz="680" dirty="0"/>
          </a:p>
        </p:txBody>
      </p:sp>
      <p:sp>
        <p:nvSpPr>
          <p:cNvPr id="64" name="Shape 61"/>
          <p:cNvSpPr/>
          <p:nvPr/>
        </p:nvSpPr>
        <p:spPr>
          <a:xfrm>
            <a:off x="585216" y="4526280"/>
            <a:ext cx="2834640" cy="841248"/>
          </a:xfrm>
          <a:prstGeom prst="roundRect">
            <a:avLst>
              <a:gd name="adj" fmla="val 6522"/>
            </a:avLst>
          </a:prstGeom>
          <a:solidFill>
            <a:srgbClr val="102A43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12648" y="4636008"/>
            <a:ext cx="0" cy="621792"/>
          </a:xfrm>
          <a:prstGeom prst="line">
            <a:avLst/>
          </a:prstGeom>
          <a:noFill/>
          <a:ln w="27940">
            <a:solidFill>
              <a:srgbClr val="8DDDF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68096" y="467258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</a:rPr>
              <a:t>核心原则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768096" y="5010912"/>
            <a:ext cx="254203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</a:rPr>
              <a:t>LLM 不直接裸写设备参数；所有动作必须经过计划、提案、安全门、回读和实验账本。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3611880" y="4526280"/>
            <a:ext cx="2834640" cy="841248"/>
          </a:xfrm>
          <a:prstGeom prst="roundRect">
            <a:avLst>
              <a:gd name="adj" fmla="val 6522"/>
            </a:avLst>
          </a:prstGeom>
          <a:solidFill>
            <a:srgbClr val="102A43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639312" y="4636008"/>
            <a:ext cx="0" cy="621792"/>
          </a:xfrm>
          <a:prstGeom prst="line">
            <a:avLst/>
          </a:prstGeom>
          <a:noFill/>
          <a:ln w="27940">
            <a:solidFill>
              <a:srgbClr val="7AE0B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794760" y="467258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</a:rPr>
              <a:t>第一目标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3794760" y="5010912"/>
            <a:ext cx="254203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</a:rPr>
              <a:t>先打通 MVP-1 安全闭环，再逐步引入深度研发优化和自动执行。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10835640" y="62910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DDF1"/>
                </a:solidFill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结论先行：模式合理，但必须收敛成受控闭环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设备与检测接口已具备，成败取决于闭环治理，而不是接口本身。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E5F6EE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435608"/>
            <a:ext cx="0" cy="3072384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7218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</a:rPr>
              <a:t>为什么可行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2953512" cy="2688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1. 薄膜双拉天然是多变量、慢响应、强耦合工艺。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2. 在线厚度和双折射提供快速代理反馈。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3. Claude Code 适合做工具编排和结构化流程。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4. 现有诊断 Skill 可复用为深环审计内核。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62272" y="132588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FFE8E6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9704" y="1435608"/>
            <a:ext cx="0" cy="3072384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47218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</a:rPr>
              <a:t>必须避免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1810512"/>
            <a:ext cx="2953512" cy="2688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1. LLM 直接控制 PLC。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2. 第一版同时做全量自动化。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3. 快环自行扩大探索空间。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4. 只看在线指标却宣称最终性能最优。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5. 用 Agent 推理替代确定性安全门。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75320" y="132588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E5F0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1435608"/>
            <a:ext cx="0" cy="3072384"/>
          </a:xfrm>
          <a:prstGeom prst="line">
            <a:avLst/>
          </a:prstGeom>
          <a:noFill/>
          <a:ln w="27940">
            <a:solidFill>
              <a:srgbClr val="1C6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47218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</a:rPr>
              <a:t>正确落点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1810512"/>
            <a:ext cx="2953512" cy="2688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做成“受控在线研发优化平台”：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深环设计试验，快环安全执行，MCP 连接设备，Safety Gate 硬放行，Ledger 让每次调参变成可学习样本。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原设计中最需要修正的 5 个点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不是否定方向，而是把它改造成工程上能验收、能上线、能长期学习的系统。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FFE8E6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225296"/>
            <a:ext cx="0" cy="256032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</a:rPr>
              <a:t>不合理点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15568"/>
            <a:ext cx="2971800" cy="475488"/>
          </a:xfrm>
          <a:prstGeom prst="roundRect">
            <a:avLst>
              <a:gd name="adj" fmla="val 11538"/>
            </a:avLst>
          </a:prstGeom>
          <a:solidFill>
            <a:srgbClr val="FFF2DC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73552" y="1225296"/>
            <a:ext cx="0" cy="256032"/>
          </a:xfrm>
          <a:prstGeom prst="line">
            <a:avLst/>
          </a:prstGeom>
          <a:noFill/>
          <a:ln w="27940">
            <a:solidFill>
              <a:srgbClr val="BD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6187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</a:rPr>
              <a:t>落地风险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115568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E5F6EE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1225296"/>
            <a:ext cx="0" cy="256032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261872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</a:rPr>
              <a:t>最可行修正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755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1. 全量同时开发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310128" y="17556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</a:rPr>
              <a:t>开发面太宽，任一层不稳定都会闭环失败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0" y="17556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98754"/>
                </a:solidFill>
              </a:rPr>
              <a:t>先打通 MVP-1 安全闭环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94360" y="2258568"/>
            <a:ext cx="1083564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2. 深环直接给多参数最优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310128" y="25146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</a:rPr>
              <a:t>样本少、变量强耦合，易产生伪最优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98754"/>
                </a:solidFill>
              </a:rPr>
              <a:t>先做低维 DOE 和固定参数清单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94360" y="3017520"/>
            <a:ext cx="1083564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73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3. 快环既优化又执行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310128" y="32735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</a:rPr>
              <a:t>在线波动会诱导短期追逐，导致研发目标漂移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0" y="32735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98754"/>
                </a:solidFill>
              </a:rPr>
              <a:t>快环只执行计划、记录响应、异常暂停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94360" y="3776472"/>
            <a:ext cx="1083564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325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4. 离线性能进入第一闭环核心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310128" y="403250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</a:rPr>
              <a:t>慢标签延迟长，MVP 很难快速迭代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0" y="40325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98754"/>
                </a:solidFill>
              </a:rPr>
              <a:t>先优化在线代理指标，P1 再校准代理模型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94360" y="4535424"/>
            <a:ext cx="1083564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7914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5. Safety Judge 由 Agent 放行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310128" y="47914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</a:rPr>
              <a:t>无法满足工业写入的可验证要求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0" y="47914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98754"/>
                </a:solidFill>
              </a:rPr>
              <a:t>确定性 safety-gate-mcp 硬放行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总体架构：五层协同，不让任何一层越权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设备与检测在底层，MCP 是唯一接口，Skill 是标准作业，Agent 做编排和解释。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4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6187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</a:rPr>
              <a:t>人机协同层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542032" y="109728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26187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2942"/>
                </a:solidFill>
              </a:rPr>
              <a:t>研发负责人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6187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2942"/>
                </a:solidFill>
              </a:rPr>
              <a:t>工艺工程师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784848" y="109728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26187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2942"/>
                </a:solidFill>
              </a:rPr>
              <a:t>操作员控制台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906256" y="109728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126187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2942"/>
                </a:solidFill>
              </a:rPr>
              <a:t>管理看板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099048" y="1792224"/>
            <a:ext cx="0" cy="128016"/>
          </a:xfrm>
          <a:prstGeom prst="line">
            <a:avLst/>
          </a:prstGeom>
          <a:noFill/>
          <a:ln w="1016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" y="1947672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13055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</a:rPr>
              <a:t>Agent 编排层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2542032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25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213055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256C9"/>
                </a:solidFill>
              </a:rPr>
              <a:t>Orchestrator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663440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25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13055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256C9"/>
                </a:solidFill>
              </a:rPr>
              <a:t>Process Engineer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784848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25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13055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256C9"/>
                </a:solidFill>
              </a:rPr>
              <a:t>R&amp;D Engineer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906256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25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213055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256C9"/>
                </a:solidFill>
              </a:rPr>
              <a:t>Safety Reviewer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099048" y="2660904"/>
            <a:ext cx="0" cy="128016"/>
          </a:xfrm>
          <a:prstGeom prst="line">
            <a:avLst/>
          </a:prstGeom>
          <a:noFill/>
          <a:ln w="1016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8368" y="2816352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299923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</a:rPr>
              <a:t>Skill 流程层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2542032" y="283464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299923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C6DD0"/>
                </a:solidFill>
              </a:rPr>
              <a:t>Online Tuner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663440" y="283464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99923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C6DD0"/>
                </a:solidFill>
              </a:rPr>
              <a:t>R&amp;D Optimizer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84848" y="283464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99923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C6DD0"/>
                </a:solidFill>
              </a:rPr>
              <a:t>Deep Diagnostic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906256" y="283464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79408" y="299923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C6DD0"/>
                </a:solidFill>
              </a:rPr>
              <a:t>Simulation 后置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099048" y="3529584"/>
            <a:ext cx="0" cy="128016"/>
          </a:xfrm>
          <a:prstGeom prst="line">
            <a:avLst/>
          </a:prstGeom>
          <a:noFill/>
          <a:ln w="1016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8368" y="3685032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386791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</a:rPr>
              <a:t>MCP 接口层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2542032" y="37033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15184" y="386791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7F8C"/>
                </a:solidFill>
              </a:rPr>
              <a:t>historian/inspection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663440" y="37033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86791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7F8C"/>
                </a:solidFill>
              </a:rPr>
              <a:t>safety/plc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784848" y="37033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86791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7F8C"/>
                </a:solidFill>
              </a:rPr>
              <a:t>recipe/ledger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8906256" y="37033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79408" y="386791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7F8C"/>
                </a:solidFill>
              </a:rPr>
              <a:t>quality/lab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099048" y="4398264"/>
            <a:ext cx="0" cy="128016"/>
          </a:xfrm>
          <a:prstGeom prst="line">
            <a:avLst/>
          </a:prstGeom>
          <a:noFill/>
          <a:ln w="1016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" y="4553712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473659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</a:rPr>
              <a:t>设备与数据层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2542032" y="45720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BD6B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15184" y="47365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D6B00"/>
                </a:solidFill>
              </a:rPr>
              <a:t>挤出-铸片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663440" y="45720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BD6B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47365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D6B00"/>
                </a:solidFill>
              </a:rPr>
              <a:t>MD/TD 拉伸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6784848" y="45720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BD6B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47365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D6B00"/>
                </a:solidFill>
              </a:rPr>
              <a:t>热定型-收卷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8906256" y="45720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BD6B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79408" y="47365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D6B00"/>
                </a:solidFill>
              </a:rPr>
              <a:t>在线检测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58368" y="5650992"/>
            <a:ext cx="10744200" cy="438912"/>
          </a:xfrm>
          <a:prstGeom prst="roundRect">
            <a:avLst>
              <a:gd name="adj" fmla="val 12500"/>
            </a:avLst>
          </a:prstGeom>
          <a:solidFill>
            <a:srgbClr val="FFE8E6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" y="5760720"/>
            <a:ext cx="0" cy="219456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5797296"/>
            <a:ext cx="10451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2942"/>
                </a:solidFill>
              </a:rPr>
              <a:t>上线原则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841248" y="6135624"/>
            <a:ext cx="10451592" cy="-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</a:rPr>
              <a:t>所有自动写入必须经过结构化计划、确定性安全门、PLC 回读确认和实验账本；深环可以提出假设，快环只能执行受限动作。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65" name="Text 63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MVP-1 安全闭环：第一版必须先打通这 7 步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不要一开始追求完整自动研发；先让每次参数试验真实、可审计、可回滚、可学习。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38912" y="1417320"/>
            <a:ext cx="1335024" cy="2057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18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6DD0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采集快照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03504" y="24871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B80"/>
                </a:solidFill>
              </a:rPr>
              <a:t>过程量、厚度、双折射、报警、当前 recipe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773936" y="2450592"/>
            <a:ext cx="256032" cy="0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66544" y="1417320"/>
            <a:ext cx="1335024" cy="2057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618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6C9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31136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生成实验计划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231136" y="24871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B80"/>
                </a:solidFill>
              </a:rPr>
              <a:t>低维 DOE、参数窗口、保持时间、停止条件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401568" y="2450592"/>
            <a:ext cx="256032" cy="0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94176" y="1417320"/>
            <a:ext cx="1335024" cy="2057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1618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58768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快环拆步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858768" y="24871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B80"/>
                </a:solidFill>
              </a:rPr>
              <a:t>稳态检查、偏差识别、单步 delta proposal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029200" y="2450592"/>
            <a:ext cx="256032" cy="0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21808" y="1417320"/>
            <a:ext cx="1335024" cy="2057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618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352C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0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安全门预审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486400" y="24871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B80"/>
                </a:solidFill>
              </a:rPr>
              <a:t>白名单、限幅、限速、联锁、回滚配方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656832" y="2450592"/>
            <a:ext cx="256032" cy="0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49440" y="1417320"/>
            <a:ext cx="1335024" cy="2057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1618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D6B00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14032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人工确认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114032" y="24871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B80"/>
                </a:solidFill>
              </a:rPr>
              <a:t>第一版所有写入都由工艺工程师确认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8284464" y="2450592"/>
            <a:ext cx="256032" cy="0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77072" y="1417320"/>
            <a:ext cx="1335024" cy="2057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618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8C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741664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写入与回读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741664" y="24871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B80"/>
                </a:solidFill>
              </a:rPr>
              <a:t>PLC MCP 下发参数并回读确认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9912096" y="2450592"/>
            <a:ext cx="256032" cy="0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204704" y="1417320"/>
            <a:ext cx="1335024" cy="2057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14432" y="1618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6DD0"/>
                </a:solidFill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369296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2942"/>
                </a:solidFill>
              </a:rPr>
              <a:t>形成样本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10369296" y="2487168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B80"/>
                </a:solidFill>
              </a:rPr>
              <a:t>experiment_result + 前后稳态窗口 + 备注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822960" y="425196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E5F0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392" y="4361688"/>
            <a:ext cx="0" cy="740664"/>
          </a:xfrm>
          <a:prstGeom prst="line">
            <a:avLst/>
          </a:prstGeom>
          <a:noFill/>
          <a:ln w="27940">
            <a:solidFill>
              <a:srgbClr val="1C6D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398264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P0 必做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4736592"/>
            <a:ext cx="3044952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统一数据与时间对齐；安全门和配方账本。没有这两件事，后续智能都是不可验证的。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434840" y="425196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E5F6EE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62272" y="4361688"/>
            <a:ext cx="0" cy="740664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4398264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P1 再做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17720" y="4736592"/>
            <a:ext cx="3044952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深环低维 DOE 策略和在线代理模型校准，开始让平台从每次试验中学习。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046720" y="425196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2DC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74152" y="4361688"/>
            <a:ext cx="0" cy="740664"/>
          </a:xfrm>
          <a:prstGeom prst="line">
            <a:avLst/>
          </a:prstGeom>
          <a:noFill/>
          <a:ln w="27940">
            <a:solidFill>
              <a:srgbClr val="BD6B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4398264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P2 后置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29600" y="4736592"/>
            <a:ext cx="3044952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数字孪生、贝叶斯优化和半自动写入，必须等 MVP 稳定后再开放。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53" name="Text 51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层：把工业接口变成可审计工具，而不是裸接口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MCP 是平台落地的“工业插座”，每个工具都要有输入输出、权限和验收。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80160"/>
            <a:ext cx="0" cy="969264"/>
          </a:xfrm>
          <a:prstGeom prst="line">
            <a:avLst/>
          </a:prstGeom>
          <a:noFill/>
          <a:ln w="27940">
            <a:solidFill>
              <a:srgbClr val="1C6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1673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industrial-historian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41248" y="1655064"/>
            <a:ext cx="304495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读实时 tag / 时间窗口 / 稳态片段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170432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280160"/>
            <a:ext cx="0" cy="969264"/>
          </a:xfrm>
          <a:prstGeom prst="line">
            <a:avLst/>
          </a:prstGeom>
          <a:noFill/>
          <a:ln w="27940">
            <a:solidFill>
              <a:srgbClr val="087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31673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online-inspection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17720" y="1655064"/>
            <a:ext cx="304495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厚度 profile / 双折射 profile / 检测健康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11312" y="1170432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8744" y="1280160"/>
            <a:ext cx="0" cy="969264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31673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safety-gate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394192" y="1655064"/>
            <a:ext cx="304495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白名单 / 限幅 / 限速 / 联锁 / 回滚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2798064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907792"/>
            <a:ext cx="0" cy="969264"/>
          </a:xfrm>
          <a:prstGeom prst="line">
            <a:avLst/>
          </a:prstGeom>
          <a:noFill/>
          <a:ln w="27940">
            <a:solidFill>
              <a:srgbClr val="BD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944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plc-control-gateway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41248" y="3282696"/>
            <a:ext cx="304495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preview / write / readback / rollback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2798064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2907792"/>
            <a:ext cx="0" cy="969264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44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recipe-ledger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617720" y="3282696"/>
            <a:ext cx="304495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recipe_version / experiment_id / 变更日志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11312" y="2798064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2907792"/>
            <a:ext cx="0" cy="969264"/>
          </a:xfrm>
          <a:prstGeom prst="line">
            <a:avLst/>
          </a:prstGeom>
          <a:noFill/>
          <a:ln w="27940">
            <a:solidFill>
              <a:srgbClr val="725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2944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quality-lab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394192" y="3282696"/>
            <a:ext cx="304495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离线性能慢标签 / 代理模型校准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05840" y="4828032"/>
            <a:ext cx="10104120" cy="731520"/>
          </a:xfrm>
          <a:prstGeom prst="roundRect">
            <a:avLst>
              <a:gd name="adj" fmla="val 7500"/>
            </a:avLst>
          </a:prstGeom>
          <a:solidFill>
            <a:srgbClr val="FFE8E6"/>
          </a:solidFill>
          <a:ln w="12700">
            <a:solidFill>
              <a:srgbClr val="C7352C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102352"/>
            <a:ext cx="9646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352C"/>
                </a:solidFill>
              </a:rPr>
              <a:t>最关键的工程判断：Safety Gate 必须是 deterministic service，Agent 只能解释和审计，不能覆盖硬安全拒绝。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层：用标准作业流程固定住“谁想、谁做、谁审”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Skill 不是提示词堆叠，而是产物合同、输入输出和质量门。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3337560" cy="2834640"/>
          </a:xfrm>
          <a:prstGeom prst="roundRect">
            <a:avLst>
              <a:gd name="adj" fmla="val 1935"/>
            </a:avLst>
          </a:prstGeom>
          <a:solidFill>
            <a:srgbClr val="E5F6EE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316736"/>
            <a:ext cx="0" cy="2615184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5331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快环：online-film-process-tuner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044952" cy="2231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像现场工艺工程师。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输入：experiment_plan、process_snapshot、online_quality_map。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输出：parameter_delta_proposal、execution_receipt。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边界：只拆步执行，不扩大参数空间。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43984" y="1207008"/>
            <a:ext cx="3337560" cy="2834640"/>
          </a:xfrm>
          <a:prstGeom prst="roundRect">
            <a:avLst>
              <a:gd name="adj" fmla="val 1935"/>
            </a:avLst>
          </a:prstGeom>
          <a:solidFill>
            <a:srgbClr val="E5F0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1416" y="1316736"/>
            <a:ext cx="0" cy="2615184"/>
          </a:xfrm>
          <a:prstGeom prst="line">
            <a:avLst/>
          </a:prstGeom>
          <a:noFill/>
          <a:ln w="27940">
            <a:solidFill>
              <a:srgbClr val="1C6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35331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深环：film-rd-strategy-optimizer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3044952" cy="2231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像研发工程师。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输入：campaign 数据、离线标签、工艺本体、历史配方。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输出：低维 DOE、参数窗口、停止条件。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边界：样本不足时不宣称全局最优。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247888" y="1207008"/>
            <a:ext cx="3337560" cy="2834640"/>
          </a:xfrm>
          <a:prstGeom prst="roundRect">
            <a:avLst>
              <a:gd name="adj" fmla="val 1935"/>
            </a:avLst>
          </a:prstGeom>
          <a:solidFill>
            <a:srgbClr val="EEE9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316736"/>
            <a:ext cx="0" cy="2615184"/>
          </a:xfrm>
          <a:prstGeom prst="line">
            <a:avLst/>
          </a:prstGeom>
          <a:noFill/>
          <a:ln w="27940">
            <a:solidFill>
              <a:srgbClr val="725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35331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审计：industrial-deep-diagnostic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0768" y="1691640"/>
            <a:ext cx="3044952" cy="2231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复用现有管线。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B6B80"/>
                </a:solidFill>
              </a:rPr>
              <a:t>context-builder 建本体；data-processor 做响应分析；diagnostician 做竞争假设；judge/reviewer 阻断低质量结论。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920240" y="4773168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93776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C6DD0"/>
                </a:solidFill>
              </a:rPr>
              <a:t>实验计划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154680" y="5038344"/>
            <a:ext cx="923544" cy="0"/>
          </a:xfrm>
          <a:prstGeom prst="line">
            <a:avLst/>
          </a:prstGeom>
          <a:noFill/>
          <a:ln w="1524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96512" y="4773168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9664" y="493776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98754"/>
                </a:solidFill>
              </a:rPr>
              <a:t>快环执行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330952" y="5038344"/>
            <a:ext cx="923544" cy="0"/>
          </a:xfrm>
          <a:prstGeom prst="line">
            <a:avLst/>
          </a:prstGeom>
          <a:noFill/>
          <a:ln w="1524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72784" y="4773168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493776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7F8C"/>
                </a:solidFill>
              </a:rPr>
              <a:t>响应样本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507224" y="5038344"/>
            <a:ext cx="923544" cy="0"/>
          </a:xfrm>
          <a:prstGeom prst="line">
            <a:avLst/>
          </a:prstGeom>
          <a:noFill/>
          <a:ln w="1524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49056" y="4773168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25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2208" y="493776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256C9"/>
                </a:solidFill>
              </a:rPr>
              <a:t>深环更新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层：决策角色要清晰，不能互相越权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Agent 的价值是编排、解释、协同和审计，不是替代确定性控制系统。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8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344168"/>
            <a:ext cx="0" cy="1197864"/>
          </a:xfrm>
          <a:prstGeom prst="line">
            <a:avLst/>
          </a:prstGeom>
          <a:noFill/>
          <a:ln w="27940">
            <a:solidFill>
              <a:srgbClr val="725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8074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Campaign Orchestrator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96112" y="1719072"/>
            <a:ext cx="2862072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B6B80"/>
                </a:solidFill>
              </a:rPr>
              <a:t>创建 campaign、维护状态机、调度 Skill/MCP、处理异常暂停。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416552" y="12344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1344168"/>
            <a:ext cx="0" cy="1197864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38074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Process Engineer Agent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99432" y="1719072"/>
            <a:ext cx="2862072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B6B80"/>
                </a:solidFill>
              </a:rPr>
              <a:t>检查稳态、执行计划内 delta、记录响应、发现矛盾上报。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119872" y="12344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1344168"/>
            <a:ext cx="0" cy="1197864"/>
          </a:xfrm>
          <a:prstGeom prst="line">
            <a:avLst/>
          </a:prstGeom>
          <a:noFill/>
          <a:ln w="27940">
            <a:solidFill>
              <a:srgbClr val="1C6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38074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R&amp;D Engineer Agent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302752" y="1719072"/>
            <a:ext cx="2862072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B6B80"/>
                </a:solidFill>
              </a:rPr>
              <a:t>提出主假设、设计低维 DOE、定义预期响应和失败条件。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2578608" y="365760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3767328"/>
            <a:ext cx="0" cy="1197864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380390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Safety Reviewer Agent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2761488" y="4142232"/>
            <a:ext cx="2862072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B6B80"/>
                </a:solidFill>
              </a:rPr>
              <a:t>解释 safety-gate 结果、审计证据、升级人工审批。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281928" y="365760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767328"/>
            <a:ext cx="0" cy="1197864"/>
          </a:xfrm>
          <a:prstGeom prst="line">
            <a:avLst/>
          </a:prstGeom>
          <a:noFill/>
          <a:ln w="27940">
            <a:solidFill>
              <a:srgbClr val="BD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380390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Operator UI Agent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464808" y="4142232"/>
            <a:ext cx="2862072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B6B80"/>
                </a:solidFill>
              </a:rPr>
              <a:t>把建议、风险、趋势、批准/拒绝/回滚压缩成可操作界面。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开发路线：先闭环，再智能；先建议，再半自动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0"/>
                </a:solidFill>
              </a:rPr>
              <a:t>每阶段都有可验收产物，避免“所有模块都有一点，但没有一条链路能跑”。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84280" y="638251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C6DD0"/>
                </a:solidFill>
              </a:rPr>
              <a:t>9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E5F0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264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DD0"/>
                </a:solidFill>
              </a:rPr>
              <a:t>P0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435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2942"/>
                </a:solidFill>
              </a:rPr>
              <a:t>只读观测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359152" y="1545336"/>
            <a:ext cx="420624" cy="0"/>
          </a:xfrm>
          <a:prstGeom prst="line">
            <a:avLst/>
          </a:prstGeom>
          <a:noFill/>
          <a:ln w="1524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2304288"/>
            <a:ext cx="1700784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14016"/>
            <a:ext cx="0" cy="2112264"/>
          </a:xfrm>
          <a:prstGeom prst="line">
            <a:avLst/>
          </a:prstGeom>
          <a:noFill/>
          <a:ln w="27940">
            <a:solidFill>
              <a:srgbClr val="1C6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45059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</a:rPr>
              <a:t>只读观测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788920"/>
            <a:ext cx="1408176" cy="1728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数据对齐、稳定窗口、profile 特征、账本框架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871216" y="1234440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E5F0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14264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DD0"/>
                </a:solidFill>
              </a:rPr>
              <a:t>P1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38144" y="1435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2942"/>
                </a:solidFill>
              </a:rPr>
              <a:t>人工确认建议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0" y="1545336"/>
            <a:ext cx="420624" cy="0"/>
          </a:xfrm>
          <a:prstGeom prst="line">
            <a:avLst/>
          </a:prstGeom>
          <a:noFill/>
          <a:ln w="1524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71216" y="2304288"/>
            <a:ext cx="1700784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98648" y="2414016"/>
            <a:ext cx="0" cy="2112264"/>
          </a:xfrm>
          <a:prstGeom prst="line">
            <a:avLst/>
          </a:prstGeom>
          <a:noFill/>
          <a:ln w="27940">
            <a:solidFill>
              <a:srgbClr val="1C6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4096" y="245059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</a:rPr>
              <a:t>人工确认建议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54096" y="2788920"/>
            <a:ext cx="1408176" cy="1728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建议卡片、原因、风险、人工批准按钮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084064" y="1234440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E5F6EE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14264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8754"/>
                </a:solidFill>
              </a:rPr>
              <a:t>P2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50992" y="1435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2942"/>
                </a:solidFill>
              </a:rPr>
              <a:t>受控半自动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784848" y="1545336"/>
            <a:ext cx="420624" cy="0"/>
          </a:xfrm>
          <a:prstGeom prst="line">
            <a:avLst/>
          </a:prstGeom>
          <a:noFill/>
          <a:ln w="1524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84064" y="2304288"/>
            <a:ext cx="1700784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2414016"/>
            <a:ext cx="0" cy="2112264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245059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</a:rPr>
              <a:t>受控半自动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66944" y="2788920"/>
            <a:ext cx="1408176" cy="1728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低风险参数、小步幅、硬限幅、自动回滚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296912" y="1234440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FFF2DC"/>
          </a:solidFill>
          <a:ln w="12700">
            <a:solidFill>
              <a:srgbClr val="BD6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14264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6B00"/>
                </a:solidFill>
              </a:rPr>
              <a:t>P3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1435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2942"/>
                </a:solidFill>
              </a:rPr>
              <a:t>闭环研发优化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997696" y="1545336"/>
            <a:ext cx="420624" cy="0"/>
          </a:xfrm>
          <a:prstGeom prst="line">
            <a:avLst/>
          </a:prstGeom>
          <a:noFill/>
          <a:ln w="15240">
            <a:solidFill>
              <a:srgbClr val="5B6B8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96912" y="2304288"/>
            <a:ext cx="1700784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24344" y="2414016"/>
            <a:ext cx="0" cy="2112264"/>
          </a:xfrm>
          <a:prstGeom prst="line">
            <a:avLst/>
          </a:prstGeom>
          <a:noFill/>
          <a:ln w="27940">
            <a:solidFill>
              <a:srgbClr val="BD6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245059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</a:rPr>
              <a:t>闭环研发优化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79792" y="2788920"/>
            <a:ext cx="1408176" cy="1728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DOE/贝叶斯优化、离线标签回灌、代理模型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509760" y="1234440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FFF2DC"/>
          </a:solidFill>
          <a:ln w="12700">
            <a:solidFill>
              <a:srgbClr val="BD6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9488" y="14264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6B00"/>
                </a:solidFill>
              </a:rPr>
              <a:t>P4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76688" y="1435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2942"/>
                </a:solidFill>
              </a:rPr>
              <a:t>多牌号沉淀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509760" y="2304288"/>
            <a:ext cx="1700784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37192" y="2414016"/>
            <a:ext cx="0" cy="2112264"/>
          </a:xfrm>
          <a:prstGeom prst="line">
            <a:avLst/>
          </a:prstGeom>
          <a:noFill/>
          <a:ln w="27940">
            <a:solidFill>
              <a:srgbClr val="BD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245059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</a:rPr>
              <a:t>多牌号沉淀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692640" y="2788920"/>
            <a:ext cx="1408176" cy="1728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best-known recipe、禁区、跨批次迁移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1115568" y="5285232"/>
            <a:ext cx="9509760" cy="502920"/>
          </a:xfrm>
          <a:prstGeom prst="roundRect">
            <a:avLst>
              <a:gd name="adj" fmla="val 10909"/>
            </a:avLst>
          </a:prstGeom>
          <a:solidFill>
            <a:srgbClr val="DDF7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5394960"/>
            <a:ext cx="0" cy="283464"/>
          </a:xfrm>
          <a:prstGeom prst="line">
            <a:avLst/>
          </a:prstGeom>
          <a:noFill/>
          <a:ln w="27940">
            <a:solidFill>
              <a:srgbClr val="087F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98448" y="5431536"/>
            <a:ext cx="9217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942"/>
                </a:solidFill>
              </a:rPr>
              <a:t>验收节奏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98448" y="5769864"/>
            <a:ext cx="9217152" cy="-100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B80"/>
                </a:solidFill>
              </a:rPr>
              <a:t>P0 看数据可信度，P1 看建议方向命中率，P2 看零越界和回滚可靠性，P3 看试验效率和产品性能提升。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02920" y="6236208"/>
            <a:ext cx="111556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638251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B80"/>
                </a:solidFill>
              </a:rPr>
              <a:t>Biaxial Film Online R&amp;D Agent Platform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11384280" y="6382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C6DD0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5080">
            <a:solidFill>
              <a:srgbClr val="234964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5303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最终行动蓝图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585216" y="1042416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7E8"/>
                </a:solidFill>
              </a:rPr>
              <a:t>把在线优化从“想法”变成“可开发、可验证、可上线”的研发控制平台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68096" y="1874520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5528" y="1984248"/>
            <a:ext cx="0" cy="603504"/>
          </a:xfrm>
          <a:prstGeom prst="line">
            <a:avLst/>
          </a:prstGeom>
          <a:noFill/>
          <a:ln w="27940">
            <a:solidFill>
              <a:srgbClr val="8DDD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0976" y="2020824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第一条链路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50976" y="2359152"/>
            <a:ext cx="423367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打通 MVP-1：采集 -&gt; 计划 -&gt; 提案 -&gt; 安全门 -&gt; 确认 -&gt; 写入回读 -&gt; 样本。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6025896" y="1874520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53328" y="1984248"/>
            <a:ext cx="0" cy="603504"/>
          </a:xfrm>
          <a:prstGeom prst="line">
            <a:avLst/>
          </a:prstGeom>
          <a:noFill/>
          <a:ln w="27940">
            <a:solidFill>
              <a:srgbClr val="FFB5A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08776" y="2020824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第一条原则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08776" y="2359152"/>
            <a:ext cx="423367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安全放行必须 deterministic；Agent 负责解释、审计和协同。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768096" y="3172968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5528" y="3282696"/>
            <a:ext cx="0" cy="603504"/>
          </a:xfrm>
          <a:prstGeom prst="line">
            <a:avLst/>
          </a:prstGeom>
          <a:noFill/>
          <a:ln w="27940">
            <a:solidFill>
              <a:srgbClr val="7AE0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0976" y="3319272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第一批模块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50976" y="3657600"/>
            <a:ext cx="423367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historian、inspection、safety-gate、plc-gateway、recipe-ledger、tuner skill。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6025896" y="3172968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53328" y="3282696"/>
            <a:ext cx="0" cy="603504"/>
          </a:xfrm>
          <a:prstGeom prst="line">
            <a:avLst/>
          </a:prstGeom>
          <a:noFill/>
          <a:ln w="27940">
            <a:solidFill>
              <a:srgbClr val="C8B6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08776" y="3319272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</a:rPr>
              <a:t>第一类指标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208776" y="3657600"/>
            <a:ext cx="423367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B80"/>
                </a:solidFill>
              </a:rPr>
              <a:t>在线厚度和双折射作为代理指标；离线性能用于 P1/P2 代理模型校准。</a:t>
            </a:r>
            <a:endParaRPr lang="en-US" sz="840" dirty="0"/>
          </a:p>
        </p:txBody>
      </p:sp>
      <p:sp>
        <p:nvSpPr>
          <p:cNvPr id="70" name="Text 68"/>
          <p:cNvSpPr/>
          <p:nvPr/>
        </p:nvSpPr>
        <p:spPr>
          <a:xfrm>
            <a:off x="960120" y="530352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DDF1"/>
                </a:solidFill>
              </a:rPr>
              <a:t>建议下一步：直接按 MVP-1 建目录、写 MCP schema、做 campaign 状态机和建议卡片 UI。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Industrial Deep Diagnostic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薄膜双拉在线工艺优化 Agent 平台</dc:title>
  <dc:subject>薄膜双拉在线工艺优化 Agent 平台</dc:subject>
  <dc:creator>Codex</dc:creator>
  <cp:lastModifiedBy>Codex</cp:lastModifiedBy>
  <cp:revision>1</cp:revision>
  <dcterms:created xsi:type="dcterms:W3CDTF">2026-06-10T09:33:05Z</dcterms:created>
  <dcterms:modified xsi:type="dcterms:W3CDTF">2026-06-10T09:33:05Z</dcterms:modified>
</cp:coreProperties>
</file>