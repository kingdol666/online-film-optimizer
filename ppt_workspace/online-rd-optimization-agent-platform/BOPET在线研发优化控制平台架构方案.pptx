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9296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37392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152144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3456432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992624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pic>
        <p:nvPicPr>
          <p:cNvPr id="52" name="Image 0" descr="/Volumes/laxer/codes/skills/industrial-deep-diagnostic/ppt_workspace/online-rd-optimization-agent-platform/images/bopet-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100" y="665480"/>
            <a:ext cx="6022975" cy="353314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594360" y="749808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BOPET 在线研发优化</a:t>
            </a:r>
            <a:endParaRPr lang="en-US" sz="2800" dirty="0"/>
          </a:p>
        </p:txBody>
      </p:sp>
      <p:sp>
        <p:nvSpPr>
          <p:cNvPr id="54" name="Text 51"/>
          <p:cNvSpPr/>
          <p:nvPr/>
        </p:nvSpPr>
        <p:spPr>
          <a:xfrm>
            <a:off x="594360" y="1298448"/>
            <a:ext cx="5669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DD3FC"/>
                </a:solidFill>
              </a:rPr>
              <a:t>Agent 控制平台架构方案</a:t>
            </a:r>
            <a:endParaRPr lang="en-US" sz="2600" dirty="0"/>
          </a:p>
        </p:txBody>
      </p:sp>
      <p:sp>
        <p:nvSpPr>
          <p:cNvPr id="55" name="Text 52"/>
          <p:cNvSpPr/>
          <p:nvPr/>
        </p:nvSpPr>
        <p:spPr>
          <a:xfrm>
            <a:off x="621792" y="199339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8D9EA"/>
                </a:solidFill>
              </a:rPr>
              <a:t>面向真实双拉产线：MCP 接入、三 Agent 协作、黑盒工况调参、安全闭环与 Recipe 沉淀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640080" y="2633472"/>
            <a:ext cx="932688" cy="274320"/>
          </a:xfrm>
          <a:prstGeom prst="roundRect">
            <a:avLst>
              <a:gd name="adj" fmla="val 23333"/>
            </a:avLst>
          </a:prstGeom>
          <a:solidFill>
            <a:srgbClr val="102A43"/>
          </a:solidFill>
          <a:ln w="12700">
            <a:solidFill>
              <a:srgbClr val="7DD3FC">
                <a:alpha val="50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85800" y="2702052"/>
            <a:ext cx="84124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DD3FC"/>
                </a:solidFill>
              </a:rPr>
              <a:t>质量诊断</a:t>
            </a:r>
            <a:endParaRPr lang="en-US" sz="700" dirty="0"/>
          </a:p>
        </p:txBody>
      </p:sp>
      <p:sp>
        <p:nvSpPr>
          <p:cNvPr id="58" name="Shape 55"/>
          <p:cNvSpPr/>
          <p:nvPr/>
        </p:nvSpPr>
        <p:spPr>
          <a:xfrm>
            <a:off x="1700784" y="2633472"/>
            <a:ext cx="932688" cy="274320"/>
          </a:xfrm>
          <a:prstGeom prst="roundRect">
            <a:avLst>
              <a:gd name="adj" fmla="val 23333"/>
            </a:avLst>
          </a:prstGeom>
          <a:solidFill>
            <a:srgbClr val="102A43"/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746504" y="2702052"/>
            <a:ext cx="84124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BBF24"/>
                </a:solidFill>
              </a:rPr>
              <a:t>研发策略</a:t>
            </a:r>
            <a:endParaRPr lang="en-US" sz="700" dirty="0"/>
          </a:p>
        </p:txBody>
      </p:sp>
      <p:sp>
        <p:nvSpPr>
          <p:cNvPr id="60" name="Shape 57"/>
          <p:cNvSpPr/>
          <p:nvPr/>
        </p:nvSpPr>
        <p:spPr>
          <a:xfrm>
            <a:off x="2761488" y="2633472"/>
            <a:ext cx="932688" cy="274320"/>
          </a:xfrm>
          <a:prstGeom prst="roundRect">
            <a:avLst>
              <a:gd name="adj" fmla="val 23333"/>
            </a:avLst>
          </a:prstGeom>
          <a:solidFill>
            <a:srgbClr val="102A43"/>
          </a:solidFill>
          <a:ln w="12700">
            <a:solidFill>
              <a:srgbClr val="86EFAC">
                <a:alpha val="50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807208" y="2702052"/>
            <a:ext cx="84124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6EFAC"/>
                </a:solidFill>
              </a:rPr>
              <a:t>工艺执行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3822192" y="2633472"/>
            <a:ext cx="932688" cy="274320"/>
          </a:xfrm>
          <a:prstGeom prst="roundRect">
            <a:avLst>
              <a:gd name="adj" fmla="val 23333"/>
            </a:avLst>
          </a:prstGeom>
          <a:solidFill>
            <a:srgbClr val="102A43"/>
          </a:solidFill>
          <a:ln w="12700">
            <a:solidFill>
              <a:srgbClr val="FCA5A5">
                <a:alpha val="5000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867912" y="2702052"/>
            <a:ext cx="84124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CA5A5"/>
                </a:solidFill>
              </a:rPr>
              <a:t>MCP 安全门</a:t>
            </a:r>
            <a:endParaRPr lang="en-US" sz="700" dirty="0"/>
          </a:p>
        </p:txBody>
      </p:sp>
      <p:sp>
        <p:nvSpPr>
          <p:cNvPr id="64" name="Shape 61"/>
          <p:cNvSpPr/>
          <p:nvPr/>
        </p:nvSpPr>
        <p:spPr>
          <a:xfrm>
            <a:off x="4882896" y="2633472"/>
            <a:ext cx="932688" cy="274320"/>
          </a:xfrm>
          <a:prstGeom prst="roundRect">
            <a:avLst>
              <a:gd name="adj" fmla="val 23333"/>
            </a:avLst>
          </a:prstGeom>
          <a:solidFill>
            <a:srgbClr val="102A43"/>
          </a:solidFill>
          <a:ln w="12700">
            <a:solidFill>
              <a:srgbClr val="C4B5FD">
                <a:alpha val="50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928616" y="2702052"/>
            <a:ext cx="84124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4B5FD"/>
                </a:solidFill>
              </a:rPr>
              <a:t>Recipe Ledger</a:t>
            </a:r>
            <a:endParaRPr lang="en-US" sz="700" dirty="0"/>
          </a:p>
        </p:txBody>
      </p:sp>
      <p:sp>
        <p:nvSpPr>
          <p:cNvPr id="66" name="Shape 63"/>
          <p:cNvSpPr/>
          <p:nvPr/>
        </p:nvSpPr>
        <p:spPr>
          <a:xfrm>
            <a:off x="694944" y="4617720"/>
            <a:ext cx="3200400" cy="786384"/>
          </a:xfrm>
          <a:prstGeom prst="roundRect">
            <a:avLst>
              <a:gd name="adj" fmla="val 6977"/>
            </a:avLst>
          </a:prstGeom>
          <a:solidFill>
            <a:srgbClr val="102A43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31520" y="4745736"/>
            <a:ext cx="0" cy="530352"/>
          </a:xfrm>
          <a:prstGeom prst="line">
            <a:avLst/>
          </a:prstGeom>
          <a:noFill/>
          <a:ln w="27940">
            <a:solidFill>
              <a:srgbClr val="7DD3F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77824" y="477316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一句话目标</a:t>
            </a:r>
            <a:endParaRPr lang="en-US" sz="1160" dirty="0"/>
          </a:p>
        </p:txBody>
      </p:sp>
      <p:sp>
        <p:nvSpPr>
          <p:cNvPr id="69" name="Text 66"/>
          <p:cNvSpPr/>
          <p:nvPr/>
        </p:nvSpPr>
        <p:spPr>
          <a:xfrm>
            <a:off x="877824" y="5093208"/>
            <a:ext cx="28803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5E6E82"/>
                </a:solidFill>
              </a:rPr>
              <a:t>让 Agent 像研发团队一样协作，但所有设备动作都经 MCP 和确定性安全门硬卡控。</a:t>
            </a:r>
            <a:endParaRPr lang="en-US" sz="810" dirty="0"/>
          </a:p>
        </p:txBody>
      </p:sp>
      <p:sp>
        <p:nvSpPr>
          <p:cNvPr id="70" name="Shape 67"/>
          <p:cNvSpPr/>
          <p:nvPr/>
        </p:nvSpPr>
        <p:spPr>
          <a:xfrm>
            <a:off x="4160520" y="4617720"/>
            <a:ext cx="3200400" cy="786384"/>
          </a:xfrm>
          <a:prstGeom prst="roundRect">
            <a:avLst>
              <a:gd name="adj" fmla="val 6977"/>
            </a:avLst>
          </a:prstGeom>
          <a:solidFill>
            <a:srgbClr val="102A43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197096" y="4745736"/>
            <a:ext cx="0" cy="530352"/>
          </a:xfrm>
          <a:prstGeom prst="line">
            <a:avLst/>
          </a:prstGeom>
          <a:noFill/>
          <a:ln w="27940">
            <a:solidFill>
              <a:srgbClr val="86EFA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343400" y="4773168"/>
            <a:ext cx="2880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当前状态</a:t>
            </a:r>
            <a:endParaRPr lang="en-US" sz="1160" dirty="0"/>
          </a:p>
        </p:txBody>
      </p:sp>
      <p:sp>
        <p:nvSpPr>
          <p:cNvPr id="73" name="Text 70"/>
          <p:cNvSpPr/>
          <p:nvPr/>
        </p:nvSpPr>
        <p:spPr>
          <a:xfrm>
            <a:off x="4343400" y="5093208"/>
            <a:ext cx="28803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5E6E82"/>
                </a:solidFill>
              </a:rPr>
              <a:t>已有模拟黑盒客户端、MCP setpoint 工具、三角色 Skill 和 campaign 验收脚本。</a:t>
            </a:r>
            <a:endParaRPr lang="en-US" sz="810" dirty="0"/>
          </a:p>
        </p:txBody>
      </p:sp>
      <p:sp>
        <p:nvSpPr>
          <p:cNvPr id="74" name="Text 71"/>
          <p:cNvSpPr/>
          <p:nvPr/>
        </p:nvSpPr>
        <p:spPr>
          <a:xfrm>
            <a:off x="10698480" y="6327648"/>
            <a:ext cx="8229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DD3FC"/>
                </a:solidFill>
              </a:rPr>
              <a:t>2026.06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33"/>
                </a:solidFill>
              </a:rPr>
              <a:t>设计</a:t>
            </a:r>
            <a:r>
              <a:rPr lang="zh-CN" altLang="en-US" sz="2100" b="1" dirty="0">
                <a:solidFill>
                  <a:srgbClr val="102033"/>
                </a:solidFill>
              </a:rPr>
              <a:t>思路</a:t>
            </a:r>
            <a:r>
              <a:rPr lang="en-US" sz="2100" b="1" dirty="0">
                <a:solidFill>
                  <a:srgbClr val="102033"/>
                </a:solidFill>
              </a:rPr>
              <a:t>：</a:t>
            </a:r>
            <a:r>
              <a:rPr lang="zh-CN" altLang="en-US" sz="2100" b="1" dirty="0">
                <a:solidFill>
                  <a:srgbClr val="102033"/>
                </a:solidFill>
              </a:rPr>
              <a:t>在线优化平台</a:t>
            </a:r>
            <a:r>
              <a:rPr lang="zh-CN" altLang="en-US" sz="2100" b="1" dirty="0">
                <a:solidFill>
                  <a:srgbClr val="102033"/>
                </a:solidFill>
              </a:rPr>
              <a:t>设计</a:t>
            </a:r>
            <a:endParaRPr lang="zh-CN" altLang="en-US" sz="2100" b="1" dirty="0">
              <a:solidFill>
                <a:srgbClr val="10203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5E6E82"/>
                </a:solidFill>
              </a:rPr>
              <a:t>在线优化不是让 LLM 直接控制产线，而是让 Agent 编排“可审计的试验”。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02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383280" cy="2971800"/>
          </a:xfrm>
          <a:prstGeom prst="roundRect">
            <a:avLst>
              <a:gd name="adj" fmla="val 1846"/>
            </a:avLst>
          </a:prstGeom>
          <a:solidFill>
            <a:srgbClr val="E5F6EE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362456"/>
            <a:ext cx="0" cy="2715768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89888"/>
            <a:ext cx="3063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为什么可行</a:t>
            </a:r>
            <a:endParaRPr lang="en-US" sz="1160" dirty="0"/>
          </a:p>
        </p:txBody>
      </p:sp>
      <p:sp>
        <p:nvSpPr>
          <p:cNvPr id="8" name="Text 6"/>
          <p:cNvSpPr/>
          <p:nvPr/>
        </p:nvSpPr>
        <p:spPr>
          <a:xfrm>
            <a:off x="822960" y="1709928"/>
            <a:ext cx="3063240" cy="24048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E6E82"/>
                </a:solidFill>
              </a:rPr>
              <a:t>真实 BOPET 双拉线已经有挤出到收卷设备、在线厚度和双折射检测。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5E6E82"/>
                </a:solidFill>
              </a:rPr>
              <a:t>这些在线指标可以作为快速代理反馈，让研发方案在安全窗口内快速迭代。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407408" y="1234440"/>
            <a:ext cx="3383280" cy="2971800"/>
          </a:xfrm>
          <a:prstGeom prst="roundRect">
            <a:avLst>
              <a:gd name="adj" fmla="val 1846"/>
            </a:avLst>
          </a:prstGeom>
          <a:solidFill>
            <a:srgbClr val="FFE8E6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3984" y="1362456"/>
            <a:ext cx="0" cy="2715768"/>
          </a:xfrm>
          <a:prstGeom prst="line">
            <a:avLst/>
          </a:prstGeom>
          <a:noFill/>
          <a:ln w="27940">
            <a:solidFill>
              <a:srgbClr val="C735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389888"/>
            <a:ext cx="3063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关键约束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4590288" y="1709928"/>
            <a:ext cx="3063240" cy="24048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E6E82"/>
                </a:solidFill>
              </a:rPr>
              <a:t>优化器必须把客户端当黑盒。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5E6E82"/>
                </a:solidFill>
              </a:rPr>
              <a:t>只能看到 MCP 暴露的快照、参数目录、在线检测和执行回执，不能读取底层响应函数。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183880" y="1234440"/>
            <a:ext cx="3383280" cy="2971800"/>
          </a:xfrm>
          <a:prstGeom prst="roundRect">
            <a:avLst>
              <a:gd name="adj" fmla="val 1846"/>
            </a:avLst>
          </a:prstGeom>
          <a:solidFill>
            <a:srgbClr val="E8F1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0456" y="1362456"/>
            <a:ext cx="0" cy="2715768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389888"/>
            <a:ext cx="3063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正确落点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8366760" y="1709928"/>
            <a:ext cx="3063240" cy="24048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E6E82"/>
                </a:solidFill>
              </a:rPr>
              <a:t>三角色协作：质量工程师判断问题，研发工程师设计方案，工艺工程师执行安全设定值请求。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5E6E82"/>
                </a:solidFill>
              </a:rPr>
              <a:t>最终沉淀 best recipe。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1051560" y="4709160"/>
            <a:ext cx="10012680" cy="640080"/>
          </a:xfrm>
          <a:prstGeom prst="roundRect">
            <a:avLst>
              <a:gd name="adj" fmla="val 8571"/>
            </a:avLst>
          </a:prstGeom>
          <a:solidFill>
            <a:srgbClr val="EEEAFE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8136" y="4837176"/>
            <a:ext cx="0" cy="384048"/>
          </a:xfrm>
          <a:prstGeom prst="line">
            <a:avLst/>
          </a:prstGeom>
          <a:noFill/>
          <a:ln w="27940">
            <a:solidFill>
              <a:srgbClr val="6D5B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4864608"/>
            <a:ext cx="9692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工程原则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1234440" y="5184648"/>
            <a:ext cx="9692640" cy="731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E6E82"/>
                </a:solidFill>
              </a:rPr>
              <a:t>Agent 可以推理、解释、规划；MCP/Safety Gate 负责硬约束；PLC/模拟客户端负责执行与回读。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02920" y="6199632"/>
            <a:ext cx="11109960" cy="0"/>
          </a:xfrm>
          <a:prstGeom prst="line">
            <a:avLst/>
          </a:prstGeom>
          <a:noFill/>
          <a:ln w="762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6364224"/>
            <a:ext cx="38404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5E6E82"/>
                </a:solidFill>
              </a:rPr>
              <a:t>BOPET Online R&amp;D Optimization Control Platform</a:t>
            </a:r>
            <a:endParaRPr lang="en-US" sz="640" dirty="0"/>
          </a:p>
        </p:txBody>
      </p:sp>
      <p:sp>
        <p:nvSpPr>
          <p:cNvPr id="23" name="Text 21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33"/>
                </a:solidFill>
              </a:rPr>
              <a:t>真实 BOPET 产线对接对象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5E6E82"/>
                </a:solidFill>
              </a:rPr>
              <a:t>从挤出铸片到收卷，在线检测提供厚度与双折射反馈；Agent 不改变工艺物理，只改变试验效率。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03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44475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1430">
            <a:solidFill>
              <a:srgbClr val="C77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22476"/>
            <a:ext cx="135331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77700"/>
                </a:solidFill>
              </a:rPr>
              <a:t>PET 干燥/挤出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94360" y="1993392"/>
            <a:ext cx="1261872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E6E82"/>
                </a:solidFill>
              </a:rPr>
              <a:t>melt_temp</a:t>
            </a:r>
            <a:endParaRPr lang="en-US" sz="740" dirty="0"/>
          </a:p>
          <a:p>
            <a:pPr marL="0" indent="0" algn="ctr">
              <a:buNone/>
            </a:pPr>
            <a:r>
              <a:rPr lang="en-US" sz="740" dirty="0">
                <a:solidFill>
                  <a:srgbClr val="5E6E82"/>
                </a:solidFill>
              </a:rPr>
              <a:t>extruder_speed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1947672" y="1581912"/>
            <a:ext cx="384048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04872" y="1325880"/>
            <a:ext cx="144475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1430">
            <a:solidFill>
              <a:srgbClr val="C77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522476"/>
            <a:ext cx="135331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77700"/>
                </a:solidFill>
              </a:rPr>
              <a:t>模头/铸片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496312" y="1993392"/>
            <a:ext cx="1261872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E6E82"/>
                </a:solidFill>
              </a:rPr>
              <a:t>casting_roll_temp</a:t>
            </a:r>
            <a:endParaRPr lang="en-US" sz="740" dirty="0"/>
          </a:p>
          <a:p>
            <a:pPr marL="0" indent="0" algn="ctr">
              <a:buNone/>
            </a:pPr>
            <a:r>
              <a:rPr lang="en-US" sz="740" dirty="0">
                <a:solidFill>
                  <a:srgbClr val="5E6E82"/>
                </a:solidFill>
              </a:rPr>
              <a:t>extruder_pressure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3849624" y="1581912"/>
            <a:ext cx="384048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06824" y="1325880"/>
            <a:ext cx="144475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522476"/>
            <a:ext cx="135331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563EB"/>
                </a:solidFill>
              </a:rPr>
              <a:t>MD 纵拉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398264" y="1993392"/>
            <a:ext cx="1261872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E6E82"/>
                </a:solidFill>
              </a:rPr>
              <a:t>md_draw_ratio</a:t>
            </a:r>
            <a:endParaRPr lang="en-US" sz="740" dirty="0"/>
          </a:p>
          <a:p>
            <a:pPr marL="0" indent="0" algn="ctr">
              <a:buNone/>
            </a:pPr>
            <a:r>
              <a:rPr lang="en-US" sz="740" dirty="0">
                <a:solidFill>
                  <a:srgbClr val="5E6E82"/>
                </a:solidFill>
              </a:rPr>
              <a:t>md_zone_temp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751576" y="1581912"/>
            <a:ext cx="384048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08776" y="1325880"/>
            <a:ext cx="144475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522476"/>
            <a:ext cx="135331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563EB"/>
                </a:solidFill>
              </a:rPr>
              <a:t>TD 横拉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300216" y="1993392"/>
            <a:ext cx="1261872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E6E82"/>
                </a:solidFill>
              </a:rPr>
              <a:t>td_draw_ratio</a:t>
            </a:r>
            <a:endParaRPr lang="en-US" sz="740" dirty="0"/>
          </a:p>
          <a:p>
            <a:pPr marL="0" indent="0" algn="ctr">
              <a:buNone/>
            </a:pPr>
            <a:r>
              <a:rPr lang="en-US" sz="740" dirty="0">
                <a:solidFill>
                  <a:srgbClr val="5E6E82"/>
                </a:solidFill>
              </a:rPr>
              <a:t>td_zone_1/2_temp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7653528" y="1581912"/>
            <a:ext cx="384048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10728" y="1325880"/>
            <a:ext cx="144475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1430">
            <a:solidFill>
              <a:srgbClr val="19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6448" y="1522476"/>
            <a:ext cx="135331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98754"/>
                </a:solidFill>
              </a:rPr>
              <a:t>热定型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8202168" y="1993392"/>
            <a:ext cx="1261872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E6E82"/>
                </a:solidFill>
              </a:rPr>
              <a:t>heatset_temp</a:t>
            </a:r>
            <a:endParaRPr lang="en-US" sz="740" dirty="0"/>
          </a:p>
          <a:p>
            <a:pPr marL="0" indent="0" algn="ctr">
              <a:buNone/>
            </a:pPr>
            <a:r>
              <a:rPr lang="en-US" sz="740" dirty="0">
                <a:solidFill>
                  <a:srgbClr val="5E6E82"/>
                </a:solidFill>
              </a:rPr>
              <a:t>relaxation_ratio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9555480" y="1581912"/>
            <a:ext cx="384048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12680" y="1325880"/>
            <a:ext cx="144475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1430">
            <a:solidFill>
              <a:srgbClr val="1987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1522476"/>
            <a:ext cx="135331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98754"/>
                </a:solidFill>
              </a:rPr>
              <a:t>收卷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0104120" y="1993392"/>
            <a:ext cx="1261872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5E6E82"/>
                </a:solidFill>
              </a:rPr>
              <a:t>line_speed</a:t>
            </a:r>
            <a:endParaRPr lang="en-US" sz="740" dirty="0"/>
          </a:p>
          <a:p>
            <a:pPr marL="0" indent="0" algn="ctr">
              <a:buNone/>
            </a:pPr>
            <a:r>
              <a:rPr lang="en-US" sz="740" dirty="0">
                <a:solidFill>
                  <a:srgbClr val="5E6E82"/>
                </a:solidFill>
              </a:rPr>
              <a:t>winder_tension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2788920" y="32461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DDF7FA"/>
          </a:solidFill>
          <a:ln w="11430">
            <a:solidFill>
              <a:srgbClr val="0EA5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3442716"/>
            <a:ext cx="17373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EA5C6"/>
                </a:solidFill>
              </a:rPr>
              <a:t>在线厚度检测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5166360" y="32461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DDF7FA"/>
          </a:solidFill>
          <a:ln w="11430">
            <a:solidFill>
              <a:srgbClr val="0EA5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3442716"/>
            <a:ext cx="17373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EA5C6"/>
                </a:solidFill>
              </a:rPr>
              <a:t>在线双折射检测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7543800" y="32461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EEEAFE"/>
          </a:solidFill>
          <a:ln w="11430">
            <a:solidFill>
              <a:srgbClr val="6D5B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442716"/>
            <a:ext cx="19202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D5BD0"/>
                </a:solidFill>
              </a:rPr>
              <a:t>离线拉伸/热收缩/雾度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3703320" y="2057400"/>
            <a:ext cx="0" cy="1188720"/>
          </a:xfrm>
          <a:prstGeom prst="line">
            <a:avLst/>
          </a:prstGeom>
          <a:noFill/>
          <a:ln w="12700">
            <a:solidFill>
              <a:srgbClr val="0EA5C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080760" y="2057400"/>
            <a:ext cx="0" cy="1188720"/>
          </a:xfrm>
          <a:prstGeom prst="line">
            <a:avLst/>
          </a:prstGeom>
          <a:noFill/>
          <a:ln w="12700">
            <a:solidFill>
              <a:srgbClr val="0EA5C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77240" y="461772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DDF7FA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" y="4745736"/>
            <a:ext cx="0" cy="612648"/>
          </a:xfrm>
          <a:prstGeom prst="line">
            <a:avLst/>
          </a:prstGeom>
          <a:noFill/>
          <a:ln w="27940">
            <a:solidFill>
              <a:srgbClr val="0EA5C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4773168"/>
            <a:ext cx="2971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在线快标签</a:t>
            </a:r>
            <a:endParaRPr lang="en-US" sz="1160" dirty="0"/>
          </a:p>
        </p:txBody>
      </p:sp>
      <p:sp>
        <p:nvSpPr>
          <p:cNvPr id="39" name="Text 37"/>
          <p:cNvSpPr/>
          <p:nvPr/>
        </p:nvSpPr>
        <p:spPr>
          <a:xfrm>
            <a:off x="960120" y="5093208"/>
            <a:ext cx="2971800" cy="301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E6E82"/>
                </a:solidFill>
              </a:rPr>
              <a:t>厚度均值/CV、边中差、双折射均值/CV、profile 形状。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434840" y="461772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EEEAFE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71416" y="4745736"/>
            <a:ext cx="0" cy="612648"/>
          </a:xfrm>
          <a:prstGeom prst="line">
            <a:avLst/>
          </a:prstGeom>
          <a:noFill/>
          <a:ln w="27940">
            <a:solidFill>
              <a:srgbClr val="6D5B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4773168"/>
            <a:ext cx="2971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慢标签校准</a:t>
            </a:r>
            <a:endParaRPr lang="en-US" sz="1160" dirty="0"/>
          </a:p>
        </p:txBody>
      </p:sp>
      <p:sp>
        <p:nvSpPr>
          <p:cNvPr id="43" name="Text 41"/>
          <p:cNvSpPr/>
          <p:nvPr/>
        </p:nvSpPr>
        <p:spPr>
          <a:xfrm>
            <a:off x="4617720" y="5093208"/>
            <a:ext cx="2971800" cy="301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E6E82"/>
                </a:solidFill>
              </a:rPr>
              <a:t>离线力学、热收缩、雾度等用于后续代理模型校准。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092440" y="461772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FFE8E6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29016" y="4745736"/>
            <a:ext cx="0" cy="612648"/>
          </a:xfrm>
          <a:prstGeom prst="line">
            <a:avLst/>
          </a:prstGeom>
          <a:noFill/>
          <a:ln w="27940">
            <a:solidFill>
              <a:srgbClr val="C735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75320" y="4773168"/>
            <a:ext cx="2971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写入边界</a:t>
            </a:r>
            <a:endParaRPr lang="en-US" sz="1160" dirty="0"/>
          </a:p>
        </p:txBody>
      </p:sp>
      <p:sp>
        <p:nvSpPr>
          <p:cNvPr id="47" name="Text 45"/>
          <p:cNvSpPr/>
          <p:nvPr/>
        </p:nvSpPr>
        <p:spPr>
          <a:xfrm>
            <a:off x="8275320" y="5093208"/>
            <a:ext cx="2971800" cy="301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E6E82"/>
                </a:solidFill>
              </a:rPr>
              <a:t>所有设定值变更必须经 MCP 安全门和回读确认。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02920" y="6199632"/>
            <a:ext cx="11109960" cy="0"/>
          </a:xfrm>
          <a:prstGeom prst="line">
            <a:avLst/>
          </a:prstGeom>
          <a:noFill/>
          <a:ln w="7620">
            <a:solidFill>
              <a:srgbClr val="D8E1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" y="6364224"/>
            <a:ext cx="38404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5E6E82"/>
                </a:solidFill>
              </a:rPr>
              <a:t>BOPET Online R&amp;D Optimization Control Platform</a:t>
            </a:r>
            <a:endParaRPr lang="en-US" sz="640" dirty="0"/>
          </a:p>
        </p:txBody>
      </p:sp>
      <p:sp>
        <p:nvSpPr>
          <p:cNvPr id="50" name="Text 48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03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33"/>
                </a:solidFill>
              </a:rPr>
              <a:t>总体架构图：黑盒产线 + MCP 工具层 + Skill/Agent 编排层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5E6E82"/>
                </a:solidFill>
              </a:rPr>
              <a:t>这一页是系统落地的主图：优化器看不到底层物理函数，只能通过 MCP 工具动作学习。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04</a:t>
            </a:r>
            <a:endParaRPr lang="en-US" sz="720" dirty="0"/>
          </a:p>
        </p:txBody>
      </p:sp>
      <p:sp>
        <p:nvSpPr>
          <p:cNvPr id="6" name="Shape 3"/>
          <p:cNvSpPr/>
          <p:nvPr/>
        </p:nvSpPr>
        <p:spPr>
          <a:xfrm>
            <a:off x="822960" y="521208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FFE8E6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9536" y="5340096"/>
            <a:ext cx="0" cy="246888"/>
          </a:xfrm>
          <a:prstGeom prst="line">
            <a:avLst/>
          </a:prstGeom>
          <a:noFill/>
          <a:ln w="27940">
            <a:solidFill>
              <a:srgbClr val="C735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536752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黑盒原则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4434840" y="521208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E8F1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71416" y="5340096"/>
            <a:ext cx="0" cy="246888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536752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MCP 原则</a:t>
            </a:r>
            <a:endParaRPr lang="en-US" sz="1160" dirty="0"/>
          </a:p>
        </p:txBody>
      </p:sp>
      <p:sp>
        <p:nvSpPr>
          <p:cNvPr id="14" name="Shape 11"/>
          <p:cNvSpPr/>
          <p:nvPr/>
        </p:nvSpPr>
        <p:spPr>
          <a:xfrm>
            <a:off x="8046720" y="521208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E5F6EE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83296" y="5340096"/>
            <a:ext cx="0" cy="246888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0" y="536752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闭环原则</a:t>
            </a:r>
            <a:endParaRPr lang="en-US" sz="1160" dirty="0"/>
          </a:p>
        </p:txBody>
      </p:sp>
      <p:sp>
        <p:nvSpPr>
          <p:cNvPr id="18" name="Shape 15"/>
          <p:cNvSpPr/>
          <p:nvPr/>
        </p:nvSpPr>
        <p:spPr>
          <a:xfrm>
            <a:off x="502920" y="6199632"/>
            <a:ext cx="11109960" cy="0"/>
          </a:xfrm>
          <a:prstGeom prst="line">
            <a:avLst/>
          </a:prstGeom>
          <a:noFill/>
          <a:ln w="7620">
            <a:solidFill>
              <a:srgbClr val="D8E1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6364224"/>
            <a:ext cx="38404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5E6E82"/>
                </a:solidFill>
              </a:rPr>
              <a:t>BOPET Online R&amp;D Optimization Control Platform</a:t>
            </a:r>
            <a:endParaRPr lang="en-US" sz="640" dirty="0"/>
          </a:p>
        </p:txBody>
      </p:sp>
      <p:sp>
        <p:nvSpPr>
          <p:cNvPr id="20" name="Text 17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04</a:t>
            </a:r>
            <a:endParaRPr lang="en-US" sz="72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075" y="1214755"/>
            <a:ext cx="10565765" cy="3413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33"/>
                </a:solidFill>
              </a:rPr>
              <a:t>MCP 接入方式：真实产线</a:t>
            </a:r>
            <a:r>
              <a:rPr lang="zh-CN" altLang="en-US" sz="2100" b="1" dirty="0">
                <a:solidFill>
                  <a:srgbClr val="102033"/>
                </a:solidFill>
              </a:rPr>
              <a:t>中可供操作的接口</a:t>
            </a:r>
            <a:r>
              <a:rPr lang="en-US" altLang="zh-CN" sz="2100" b="1" dirty="0">
                <a:solidFill>
                  <a:srgbClr val="102033"/>
                </a:solidFill>
              </a:rPr>
              <a:t>（</a:t>
            </a:r>
            <a:r>
              <a:rPr lang="zh-CN" altLang="en-US" sz="2100" b="1" dirty="0">
                <a:solidFill>
                  <a:srgbClr val="102033"/>
                </a:solidFill>
              </a:rPr>
              <a:t>可以直接给设备下发指令</a:t>
            </a:r>
            <a:r>
              <a:rPr lang="en-US" altLang="zh-CN" sz="2100" b="1" dirty="0">
                <a:solidFill>
                  <a:srgbClr val="102033"/>
                </a:solidFill>
              </a:rPr>
              <a:t>）</a:t>
            </a:r>
            <a:endParaRPr lang="en-US" altLang="zh-CN" sz="2100" b="1" dirty="0">
              <a:solidFill>
                <a:srgbClr val="10203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5E6E82"/>
                </a:solidFill>
              </a:rPr>
              <a:t>第一版先用模拟黑盒客户端验证，真实上线时替换 MCP adapter，不替换 Agent 协议。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05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2461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271016"/>
            <a:ext cx="0" cy="82296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9844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参数目录</a:t>
            </a:r>
            <a:endParaRPr lang="en-US" sz="1160" dirty="0"/>
          </a:p>
        </p:txBody>
      </p:sp>
      <p:sp>
        <p:nvSpPr>
          <p:cNvPr id="8" name="Text 6"/>
          <p:cNvSpPr/>
          <p:nvPr/>
        </p:nvSpPr>
        <p:spPr>
          <a:xfrm>
            <a:off x="822960" y="1618488"/>
            <a:ext cx="2926080" cy="51206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E6E82"/>
                </a:solidFill>
              </a:rPr>
              <a:t>film_line_list_writable_parameters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6E82"/>
                </a:solidFill>
              </a:rPr>
              <a:t>返回 12 个参数、min/max、maxDelta、ramp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407408" y="1143000"/>
            <a:ext cx="32461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3984" y="1271016"/>
            <a:ext cx="0" cy="822960"/>
          </a:xfrm>
          <a:prstGeom prst="line">
            <a:avLst/>
          </a:prstGeom>
          <a:noFill/>
          <a:ln w="27940">
            <a:solidFill>
              <a:srgbClr val="0EA5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29844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稳定窗口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4590288" y="1618488"/>
            <a:ext cx="2926080" cy="51206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E6E82"/>
                </a:solidFill>
              </a:rPr>
              <a:t>film_line_run_until_stable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6E82"/>
                </a:solidFill>
              </a:rPr>
              <a:t>返回 snapshot + online_quality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174736" y="1143000"/>
            <a:ext cx="32461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11312" y="1271016"/>
            <a:ext cx="0" cy="822960"/>
          </a:xfrm>
          <a:prstGeom prst="line">
            <a:avLst/>
          </a:prstGeom>
          <a:noFill/>
          <a:ln w="27940">
            <a:solidFill>
              <a:srgbClr val="C735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29844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设定值预检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8357616" y="1618488"/>
            <a:ext cx="2926080" cy="51206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E6E82"/>
                </a:solidFill>
              </a:rPr>
              <a:t>film_line_preview_setpoints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6E82"/>
                </a:solidFill>
              </a:rPr>
              <a:t>只传 tag/target，客户端算 delta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2770632"/>
            <a:ext cx="32461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2898648"/>
            <a:ext cx="0" cy="822960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92608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执行设定值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822960" y="3246120"/>
            <a:ext cx="2926080" cy="51206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E6E82"/>
                </a:solidFill>
              </a:rPr>
              <a:t>film_line_apply_setpoints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6E82"/>
                </a:solidFill>
              </a:rPr>
              <a:t>通过 safety gate 才执行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407408" y="2770632"/>
            <a:ext cx="32461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43984" y="2898648"/>
            <a:ext cx="0" cy="822960"/>
          </a:xfrm>
          <a:prstGeom prst="line">
            <a:avLst/>
          </a:prstGeom>
          <a:noFill/>
          <a:ln w="27940">
            <a:solidFill>
              <a:srgbClr val="6D5B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292608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在线质量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4590288" y="3246120"/>
            <a:ext cx="2926080" cy="51206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E6E82"/>
                </a:solidFill>
              </a:rPr>
              <a:t>film_line_get_online_quality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6E82"/>
                </a:solidFill>
              </a:rPr>
              <a:t>厚度/双折射指标与 profile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174736" y="2770632"/>
            <a:ext cx="32461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1312" y="2898648"/>
            <a:ext cx="0" cy="822960"/>
          </a:xfrm>
          <a:prstGeom prst="line">
            <a:avLst/>
          </a:prstGeom>
          <a:noFill/>
          <a:ln w="27940">
            <a:solidFill>
              <a:srgbClr val="C77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57616" y="2926080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回滚/保存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8357616" y="3246120"/>
            <a:ext cx="2926080" cy="51206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E6E82"/>
                </a:solidFill>
              </a:rPr>
              <a:t>film_line_rollback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E6E82"/>
                </a:solidFill>
              </a:rPr>
              <a:t>film_line_save_candidate_recipe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60120" y="4754880"/>
            <a:ext cx="10149840" cy="685800"/>
          </a:xfrm>
          <a:prstGeom prst="roundRect">
            <a:avLst>
              <a:gd name="adj" fmla="val 8000"/>
            </a:avLst>
          </a:prstGeom>
          <a:solidFill>
            <a:srgbClr val="FFE8E6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696" y="4882896"/>
            <a:ext cx="0" cy="429768"/>
          </a:xfrm>
          <a:prstGeom prst="line">
            <a:avLst/>
          </a:prstGeom>
          <a:noFill/>
          <a:ln w="27940">
            <a:solidFill>
              <a:srgbClr val="C735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4910328"/>
            <a:ext cx="9829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严格卡控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1143000" y="5230368"/>
            <a:ext cx="9829800" cy="1188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E6E82"/>
                </a:solidFill>
              </a:rPr>
              <a:t>Safety Gate 会拒绝未知 tag、重复 tag、目标越界、单步 delta 超限、ramp 超限、current/delta 伪造、rollback recipe 不匹配。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02920" y="6199632"/>
            <a:ext cx="11109960" cy="0"/>
          </a:xfrm>
          <a:prstGeom prst="line">
            <a:avLst/>
          </a:prstGeom>
          <a:noFill/>
          <a:ln w="7620">
            <a:solidFill>
              <a:srgbClr val="D8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6364224"/>
            <a:ext cx="38404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5E6E82"/>
                </a:solidFill>
              </a:rPr>
              <a:t>BOPET Online R&amp;D Optimization Control Platform</a:t>
            </a:r>
            <a:endParaRPr lang="en-US" sz="640" dirty="0"/>
          </a:p>
        </p:txBody>
      </p:sp>
      <p:sp>
        <p:nvSpPr>
          <p:cNvPr id="35" name="Text 33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05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33"/>
                </a:solidFill>
              </a:rPr>
              <a:t>三个 Agent 角色定义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5E6E82"/>
                </a:solidFill>
              </a:rPr>
              <a:t>角色必须有清晰边界：谁判断质量，谁设计研发方案，谁执行工艺动作。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06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3337560" cy="3429000"/>
          </a:xfrm>
          <a:prstGeom prst="roundRect">
            <a:avLst>
              <a:gd name="adj" fmla="val 1644"/>
            </a:avLst>
          </a:prstGeom>
          <a:solidFill>
            <a:srgbClr val="DDF7FA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271016"/>
            <a:ext cx="0" cy="3172968"/>
          </a:xfrm>
          <a:prstGeom prst="line">
            <a:avLst/>
          </a:prstGeom>
          <a:noFill/>
          <a:ln w="27940">
            <a:solidFill>
              <a:srgbClr val="0EA5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质量工程师 Agent</a:t>
            </a:r>
            <a:endParaRPr lang="en-US" sz="1160" dirty="0"/>
          </a:p>
        </p:txBody>
      </p:sp>
      <p:sp>
        <p:nvSpPr>
          <p:cNvPr id="8" name="Text 6"/>
          <p:cNvSpPr/>
          <p:nvPr/>
        </p:nvSpPr>
        <p:spPr>
          <a:xfrm>
            <a:off x="868680" y="1618488"/>
            <a:ext cx="3017520" cy="28620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E6E82"/>
                </a:solidFill>
              </a:rPr>
              <a:t>输入：process snapshot、online quality、product target。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E6E82"/>
                </a:solidFill>
              </a:rPr>
              <a:t>输出：quality_diagnosis。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E6E82"/>
                </a:solidFill>
              </a:rPr>
              <a:t>职责：判断 PASS/WARNING/FAIL，识别主要质量 gap，给研发工程师提供诊断证据。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E6E82"/>
                </a:solidFill>
              </a:rPr>
              <a:t>禁止：生成或下发 setpoint。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434840" y="1143000"/>
            <a:ext cx="3337560" cy="3429000"/>
          </a:xfrm>
          <a:prstGeom prst="roundRect">
            <a:avLst>
              <a:gd name="adj" fmla="val 1644"/>
            </a:avLst>
          </a:prstGeom>
          <a:solidFill>
            <a:srgbClr val="FFF1D8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71416" y="1271016"/>
            <a:ext cx="0" cy="3172968"/>
          </a:xfrm>
          <a:prstGeom prst="line">
            <a:avLst/>
          </a:prstGeom>
          <a:noFill/>
          <a:ln w="27940">
            <a:solidFill>
              <a:srgbClr val="C77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29844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研发工程师 Agent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4617720" y="1618488"/>
            <a:ext cx="3017520" cy="28620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E6E82"/>
                </a:solidFill>
              </a:rPr>
              <a:t>输入：质量诊断、历史 ledger、本体模型、工艺知识。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E6E82"/>
                </a:solidFill>
              </a:rPr>
              <a:t>输出：rd_optimization_plan。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E6E82"/>
                </a:solidFill>
              </a:rPr>
              <a:t>职责：提出 DOE/单变量/局部搜索策略，定义预期响应、保持时间和停止条件。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E6E82"/>
                </a:solidFill>
              </a:rPr>
              <a:t>禁止：直接写设备。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183880" y="1143000"/>
            <a:ext cx="3337560" cy="3429000"/>
          </a:xfrm>
          <a:prstGeom prst="roundRect">
            <a:avLst>
              <a:gd name="adj" fmla="val 1644"/>
            </a:avLst>
          </a:prstGeom>
          <a:solidFill>
            <a:srgbClr val="E5F6EE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0456" y="1271016"/>
            <a:ext cx="0" cy="3172968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29844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工艺工程师 Agent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8366760" y="1618488"/>
            <a:ext cx="3017520" cy="28620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E6E82"/>
                </a:solidFill>
              </a:rPr>
              <a:t>输入：研发方案、当前 snapshot、MCP 参数目录。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E6E82"/>
                </a:solidFill>
              </a:rPr>
              <a:t>输出：parameter proposal、safety result、execution receipt。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E6E82"/>
                </a:solidFill>
              </a:rPr>
              <a:t>职责：把研发方案转成安全设定值请求，执行后记录响应。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E6E82"/>
                </a:solidFill>
              </a:rPr>
              <a:t>禁止：绕过安全门。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920240" y="512064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1430">
            <a:solidFill>
              <a:srgbClr val="0EA5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5248656"/>
            <a:ext cx="10058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EA5C6"/>
                </a:solidFill>
              </a:rPr>
              <a:t>诊断报告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3017520" y="5303520"/>
            <a:ext cx="1645920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663440" y="512064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1430">
            <a:solidFill>
              <a:srgbClr val="C77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5248656"/>
            <a:ext cx="10058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C77700"/>
                </a:solidFill>
              </a:rPr>
              <a:t>研发方案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760720" y="5303520"/>
            <a:ext cx="1645920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06640" y="512064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1430">
            <a:solidFill>
              <a:srgbClr val="198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5248656"/>
            <a:ext cx="100584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98754"/>
                </a:solidFill>
              </a:rPr>
              <a:t>安全执行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502920" y="6199632"/>
            <a:ext cx="11109960" cy="0"/>
          </a:xfrm>
          <a:prstGeom prst="line">
            <a:avLst/>
          </a:prstGeom>
          <a:noFill/>
          <a:ln w="762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6364224"/>
            <a:ext cx="38404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5E6E82"/>
                </a:solidFill>
              </a:rPr>
              <a:t>BOPET Online R&amp;D Optimization Control Platform</a:t>
            </a:r>
            <a:endParaRPr lang="en-US" sz="640" dirty="0"/>
          </a:p>
        </p:txBody>
      </p:sp>
      <p:sp>
        <p:nvSpPr>
          <p:cNvPr id="27" name="Text 25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06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33"/>
                </a:solidFill>
              </a:rPr>
              <a:t>Agent 协调搭配工作图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374263" y="355092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5E6E82"/>
                </a:solidFill>
              </a:rPr>
              <a:t>三 Agent 不是聊天协作，而是通过结构化 JSON 产物和 campaign ledger 交接。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07</a:t>
            </a:r>
            <a:endParaRPr lang="en-US" sz="720" dirty="0"/>
          </a:p>
        </p:txBody>
      </p:sp>
      <p:sp>
        <p:nvSpPr>
          <p:cNvPr id="6" name="Shape 3"/>
          <p:cNvSpPr/>
          <p:nvPr/>
        </p:nvSpPr>
        <p:spPr>
          <a:xfrm>
            <a:off x="960120" y="5440680"/>
            <a:ext cx="2971800" cy="384048"/>
          </a:xfrm>
          <a:prstGeom prst="roundRect">
            <a:avLst>
              <a:gd name="adj" fmla="val 14286"/>
            </a:avLst>
          </a:prstGeom>
          <a:solidFill>
            <a:srgbClr val="E8F1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96696" y="5568696"/>
            <a:ext cx="0" cy="128016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5596128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文件合同</a:t>
            </a:r>
            <a:endParaRPr lang="en-US" sz="1160" dirty="0"/>
          </a:p>
        </p:txBody>
      </p:sp>
      <p:sp>
        <p:nvSpPr>
          <p:cNvPr id="9" name="Text 6"/>
          <p:cNvSpPr/>
          <p:nvPr/>
        </p:nvSpPr>
        <p:spPr>
          <a:xfrm>
            <a:off x="1143000" y="5733288"/>
            <a:ext cx="26517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5E6E82"/>
                </a:solidFill>
              </a:rPr>
              <a:t>diagnosis -&gt; rd_plan -&gt; proposal -&gt; receipt</a:t>
            </a:r>
            <a:endParaRPr lang="en-US" sz="740" dirty="0"/>
          </a:p>
        </p:txBody>
      </p:sp>
      <p:sp>
        <p:nvSpPr>
          <p:cNvPr id="10" name="Shape 7"/>
          <p:cNvSpPr/>
          <p:nvPr/>
        </p:nvSpPr>
        <p:spPr>
          <a:xfrm>
            <a:off x="4617720" y="5440680"/>
            <a:ext cx="2971800" cy="384048"/>
          </a:xfrm>
          <a:prstGeom prst="roundRect">
            <a:avLst>
              <a:gd name="adj" fmla="val 14286"/>
            </a:avLst>
          </a:prstGeom>
          <a:solidFill>
            <a:srgbClr val="EEEAFE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54296" y="5568696"/>
            <a:ext cx="0" cy="128016"/>
          </a:xfrm>
          <a:prstGeom prst="line">
            <a:avLst/>
          </a:prstGeom>
          <a:noFill/>
          <a:ln w="27940">
            <a:solidFill>
              <a:srgbClr val="6D5B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5596128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并行边界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4800600" y="5733288"/>
            <a:ext cx="26517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5E6E82"/>
                </a:solidFill>
              </a:rPr>
              <a:t>审查可并行，依赖链路不可并行</a:t>
            </a:r>
            <a:endParaRPr lang="en-US" sz="740" dirty="0"/>
          </a:p>
        </p:txBody>
      </p:sp>
      <p:sp>
        <p:nvSpPr>
          <p:cNvPr id="14" name="Shape 11"/>
          <p:cNvSpPr/>
          <p:nvPr/>
        </p:nvSpPr>
        <p:spPr>
          <a:xfrm>
            <a:off x="8275320" y="5440680"/>
            <a:ext cx="2971800" cy="384048"/>
          </a:xfrm>
          <a:prstGeom prst="roundRect">
            <a:avLst>
              <a:gd name="adj" fmla="val 14286"/>
            </a:avLst>
          </a:prstGeom>
          <a:solidFill>
            <a:srgbClr val="E5F6EE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11896" y="5568696"/>
            <a:ext cx="0" cy="128016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58200" y="5596128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学习闭环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8458200" y="5733288"/>
            <a:ext cx="26517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5E6E82"/>
                </a:solidFill>
              </a:rPr>
              <a:t>每轮结果写入 campaign ledger</a:t>
            </a:r>
            <a:endParaRPr lang="en-US" sz="740" dirty="0"/>
          </a:p>
        </p:txBody>
      </p:sp>
      <p:sp>
        <p:nvSpPr>
          <p:cNvPr id="18" name="Shape 15"/>
          <p:cNvSpPr/>
          <p:nvPr/>
        </p:nvSpPr>
        <p:spPr>
          <a:xfrm>
            <a:off x="502920" y="6199632"/>
            <a:ext cx="11109960" cy="0"/>
          </a:xfrm>
          <a:prstGeom prst="line">
            <a:avLst/>
          </a:prstGeom>
          <a:noFill/>
          <a:ln w="7620">
            <a:solidFill>
              <a:srgbClr val="D8E1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" y="6364224"/>
            <a:ext cx="38404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5E6E82"/>
                </a:solidFill>
              </a:rPr>
              <a:t>BOPET Online R&amp;D Optimization Control Platform</a:t>
            </a:r>
            <a:endParaRPr lang="en-US" sz="640" dirty="0"/>
          </a:p>
        </p:txBody>
      </p:sp>
      <p:sp>
        <p:nvSpPr>
          <p:cNvPr id="20" name="Text 17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07</a:t>
            </a:r>
            <a:endParaRPr lang="en-US" sz="72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9455" y="595630"/>
            <a:ext cx="8191500" cy="4603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33"/>
                </a:solidFill>
              </a:rPr>
              <a:t>整体运行逻辑：一轮在线研发优化如何发生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5E6E82"/>
                </a:solidFill>
              </a:rPr>
              <a:t>从稳定窗口到下一轮方案，每一步都有输入、输出和可审计记录。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08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" y="1362456"/>
            <a:ext cx="0" cy="795528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1 稳定窗口</a:t>
            </a:r>
            <a:endParaRPr lang="en-US" sz="1160" dirty="0"/>
          </a:p>
        </p:txBody>
      </p:sp>
      <p:sp>
        <p:nvSpPr>
          <p:cNvPr id="8" name="Text 6"/>
          <p:cNvSpPr/>
          <p:nvPr/>
        </p:nvSpPr>
        <p:spPr>
          <a:xfrm>
            <a:off x="685800" y="1709928"/>
            <a:ext cx="201168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MCP 采集 snapshot + 在线检测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834640" y="1764792"/>
            <a:ext cx="365760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123444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9856" y="1362456"/>
            <a:ext cx="0" cy="795528"/>
          </a:xfrm>
          <a:prstGeom prst="line">
            <a:avLst/>
          </a:prstGeom>
          <a:noFill/>
          <a:ln w="27940">
            <a:solidFill>
              <a:srgbClr val="0EA5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38988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2 质量诊断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3566160" y="1709928"/>
            <a:ext cx="201168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质量 Agent 输出 gap 与状态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715000" y="1764792"/>
            <a:ext cx="365760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63640" y="123444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0216" y="1362456"/>
            <a:ext cx="0" cy="795528"/>
          </a:xfrm>
          <a:prstGeom prst="line">
            <a:avLst/>
          </a:prstGeom>
          <a:noFill/>
          <a:ln w="27940">
            <a:solidFill>
              <a:srgbClr val="C77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38988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3 研发计划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6446520" y="1709928"/>
            <a:ext cx="201168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研发 Agent 输出 DOE/参数窗口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595360" y="1764792"/>
            <a:ext cx="365760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0" y="123444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0576" y="1362456"/>
            <a:ext cx="0" cy="795528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138988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4 工艺提案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9326880" y="1709928"/>
            <a:ext cx="201168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工艺 Agent 转成 tag/target 请求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02920" y="310896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" y="3236976"/>
            <a:ext cx="0" cy="795528"/>
          </a:xfrm>
          <a:prstGeom prst="line">
            <a:avLst/>
          </a:prstGeom>
          <a:noFill/>
          <a:ln w="27940">
            <a:solidFill>
              <a:srgbClr val="C735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26440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5 安全卡控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685800" y="3584448"/>
            <a:ext cx="201168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MCP safety gate 硬拒绝风险动作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2834640" y="3639312"/>
            <a:ext cx="365760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383280" y="310896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19856" y="3236976"/>
            <a:ext cx="0" cy="795528"/>
          </a:xfrm>
          <a:prstGeom prst="line">
            <a:avLst/>
          </a:prstGeom>
          <a:noFill/>
          <a:ln w="27940">
            <a:solidFill>
              <a:srgbClr val="6D5B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26440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6 执行回读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3566160" y="3584448"/>
            <a:ext cx="201168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PLC/模拟客户端执行并确认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715000" y="3639312"/>
            <a:ext cx="365760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63640" y="310896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0216" y="3236976"/>
            <a:ext cx="0" cy="795528"/>
          </a:xfrm>
          <a:prstGeom prst="line">
            <a:avLst/>
          </a:prstGeom>
          <a:noFill/>
          <a:ln w="27940">
            <a:solidFill>
              <a:srgbClr val="0EA5C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26440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7 响应评估</a:t>
            </a:r>
            <a:endParaRPr lang="en-US" sz="1160" dirty="0"/>
          </a:p>
        </p:txBody>
      </p:sp>
      <p:sp>
        <p:nvSpPr>
          <p:cNvPr id="37" name="Text 35"/>
          <p:cNvSpPr/>
          <p:nvPr/>
        </p:nvSpPr>
        <p:spPr>
          <a:xfrm>
            <a:off x="6446520" y="3584448"/>
            <a:ext cx="201168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新窗口质量变化写入 ledger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8595360" y="3639312"/>
            <a:ext cx="365760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144000" y="310896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80576" y="3236976"/>
            <a:ext cx="0" cy="795528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0" y="3264408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8 Recipe 沉淀</a:t>
            </a:r>
            <a:endParaRPr lang="en-US" sz="1160" dirty="0"/>
          </a:p>
        </p:txBody>
      </p:sp>
      <p:sp>
        <p:nvSpPr>
          <p:cNvPr id="42" name="Text 40"/>
          <p:cNvSpPr/>
          <p:nvPr/>
        </p:nvSpPr>
        <p:spPr>
          <a:xfrm>
            <a:off x="9326880" y="3584448"/>
            <a:ext cx="201168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满足目标或保存 best observed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9162288" y="2286000"/>
            <a:ext cx="0" cy="77724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22960" y="1920240"/>
            <a:ext cx="0" cy="1737360"/>
          </a:xfrm>
          <a:prstGeom prst="line">
            <a:avLst/>
          </a:prstGeom>
          <a:noFill/>
          <a:ln w="15240">
            <a:solidFill>
              <a:srgbClr val="198754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 rot="16200000">
            <a:off x="347472" y="2743200"/>
            <a:ext cx="8229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b="1" dirty="0">
                <a:solidFill>
                  <a:srgbClr val="198754"/>
                </a:solidFill>
              </a:rPr>
              <a:t>继续下一轮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502920" y="6199632"/>
            <a:ext cx="11109960" cy="0"/>
          </a:xfrm>
          <a:prstGeom prst="line">
            <a:avLst/>
          </a:prstGeom>
          <a:noFill/>
          <a:ln w="7620">
            <a:solidFill>
              <a:srgbClr val="D8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" y="6364224"/>
            <a:ext cx="38404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5E6E82"/>
                </a:solidFill>
              </a:rPr>
              <a:t>BOPET Online R&amp;D Optimization Control Platform</a:t>
            </a:r>
            <a:endParaRPr lang="en-US" sz="640" dirty="0"/>
          </a:p>
        </p:txBody>
      </p:sp>
      <p:sp>
        <p:nvSpPr>
          <p:cNvPr id="48" name="Text 46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08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33"/>
                </a:solidFill>
              </a:rPr>
              <a:t>Skill 与工程产物：让每个 Agent 都能读懂上下游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5E6E82"/>
                </a:solidFill>
              </a:rPr>
              <a:t>Skill 负责标准作业，Schema 负责互操作，MCP 负责动作，Ledger 负责记忆。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09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1828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</a:rPr>
              <a:t>Skill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2880360" y="1143000"/>
            <a:ext cx="21945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</a:rPr>
              <a:t>读取输入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669280" y="1143000"/>
            <a:ext cx="23317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</a:rPr>
              <a:t>输出产物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412480" y="1143000"/>
            <a:ext cx="25603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02033"/>
                </a:solidFill>
              </a:rPr>
              <a:t>核心价值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30352" y="1463040"/>
            <a:ext cx="11064240" cy="621792"/>
          </a:xfrm>
          <a:prstGeom prst="roundRect">
            <a:avLst>
              <a:gd name="adj" fmla="val 5882"/>
            </a:avLst>
          </a:prstGeom>
          <a:solidFill>
            <a:srgbClr val="EEF5FF"/>
          </a:solidFill>
          <a:ln w="12700">
            <a:solidFill>
              <a:srgbClr val="D8E1EA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002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</a:rPr>
              <a:t>quality-engineer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880360" y="16002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process_snapshot + online_quality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5669280" y="1600200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quality_diagnosis.json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412480" y="16002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判定质量状态和主要 gap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30352" y="2331720"/>
            <a:ext cx="1106424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1E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468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</a:rPr>
              <a:t>rd-engineer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880360" y="246888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diagnosis + target + ledger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5669280" y="2468880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rd_optimization_plan.json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给出 DOE/假设/候选参数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30352" y="3200400"/>
            <a:ext cx="11064240" cy="621792"/>
          </a:xfrm>
          <a:prstGeom prst="roundRect">
            <a:avLst>
              <a:gd name="adj" fmla="val 5882"/>
            </a:avLst>
          </a:prstGeom>
          <a:solidFill>
            <a:srgbClr val="EEF5FF"/>
          </a:solidFill>
          <a:ln w="12700">
            <a:solidFill>
              <a:srgbClr val="D8E1EA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3375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</a:rPr>
              <a:t>process-engineer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2880360" y="333756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rd_plan + snapshot + MCP catalog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669280" y="3337560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parameter proposal + safety result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8412480" y="33375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执行安全设定值请求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30352" y="4069080"/>
            <a:ext cx="1106424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1EA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06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2563EB"/>
                </a:solidFill>
              </a:rPr>
              <a:t>closed-loop-optimizer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2880360" y="42062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campaign target + artifacts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5669280" y="4206240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run_summary + recipe recommendation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8412480" y="42062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E6E82"/>
                </a:solidFill>
              </a:rPr>
              <a:t>编排全链路并验收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822960" y="5166360"/>
            <a:ext cx="10424160" cy="502920"/>
          </a:xfrm>
          <a:prstGeom prst="roundRect">
            <a:avLst>
              <a:gd name="adj" fmla="val 10909"/>
            </a:avLst>
          </a:prstGeom>
          <a:solidFill>
            <a:srgbClr val="E5F6EE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" y="5294376"/>
            <a:ext cx="0" cy="246888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5321808"/>
            <a:ext cx="10104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当前已落地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1005840" y="5501767"/>
            <a:ext cx="10104120" cy="640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5E6E82"/>
                </a:solidFill>
              </a:rPr>
              <a:t>.claude/skills 四个 Skill、.claude/agents 四个 SubAgent、MCP 黑盒客户端、schema validator、campaign validator。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502920" y="6199632"/>
            <a:ext cx="11109960" cy="0"/>
          </a:xfrm>
          <a:prstGeom prst="line">
            <a:avLst/>
          </a:prstGeom>
          <a:noFill/>
          <a:ln w="7620">
            <a:solidFill>
              <a:srgbClr val="D8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6364224"/>
            <a:ext cx="38404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5E6E82"/>
                </a:solidFill>
              </a:rPr>
              <a:t>BOPET Online R&amp;D Optimization Control Platform</a:t>
            </a:r>
            <a:endParaRPr lang="en-US" sz="640" dirty="0"/>
          </a:p>
        </p:txBody>
      </p:sp>
      <p:sp>
        <p:nvSpPr>
          <p:cNvPr id="35" name="Text 33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09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33"/>
                </a:solidFill>
              </a:rPr>
              <a:t>开发实施路线：从模拟黑盒到真实 BOPET 线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5E6E82"/>
                </a:solidFill>
              </a:rPr>
              <a:t>每阶段都要有可验收产物，避免“大平台都在做，但没有一条闭环能跑”。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11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1664208" cy="502920"/>
          </a:xfrm>
          <a:prstGeom prst="roundRect">
            <a:avLst>
              <a:gd name="adj" fmla="val 10909"/>
            </a:avLst>
          </a:prstGeom>
          <a:solidFill>
            <a:srgbClr val="E8F1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31036"/>
            <a:ext cx="15727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2563EB"/>
                </a:solidFill>
              </a:rPr>
              <a:t>P0 模拟闭环</a:t>
            </a:r>
            <a:endParaRPr lang="en-US" sz="790" dirty="0"/>
          </a:p>
        </p:txBody>
      </p:sp>
      <p:sp>
        <p:nvSpPr>
          <p:cNvPr id="7" name="Shape 5"/>
          <p:cNvSpPr/>
          <p:nvPr/>
        </p:nvSpPr>
        <p:spPr>
          <a:xfrm>
            <a:off x="2322576" y="1490472"/>
            <a:ext cx="457200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8368" y="2148840"/>
            <a:ext cx="1664208" cy="25146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2276856"/>
            <a:ext cx="0" cy="2258568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304288"/>
            <a:ext cx="1344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P0 模拟闭环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841248" y="2624328"/>
            <a:ext cx="1344168" cy="1947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E6E82"/>
                </a:solidFill>
              </a:rPr>
              <a:t>黑盒客户端 + MCP setpoint 工具 + 三 Agent Skill + campaign validator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871216" y="1234440"/>
            <a:ext cx="1664208" cy="502920"/>
          </a:xfrm>
          <a:prstGeom prst="roundRect">
            <a:avLst>
              <a:gd name="adj" fmla="val 10909"/>
            </a:avLst>
          </a:prstGeom>
          <a:solidFill>
            <a:srgbClr val="E8F1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6936" y="1431036"/>
            <a:ext cx="15727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2563EB"/>
                </a:solidFill>
              </a:rPr>
              <a:t>P1 真实只读</a:t>
            </a:r>
            <a:endParaRPr lang="en-US" sz="790" dirty="0"/>
          </a:p>
        </p:txBody>
      </p:sp>
      <p:sp>
        <p:nvSpPr>
          <p:cNvPr id="14" name="Shape 12"/>
          <p:cNvSpPr/>
          <p:nvPr/>
        </p:nvSpPr>
        <p:spPr>
          <a:xfrm>
            <a:off x="4535424" y="1490472"/>
            <a:ext cx="457200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71216" y="2148840"/>
            <a:ext cx="1664208" cy="25146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07792" y="2276856"/>
            <a:ext cx="0" cy="2258568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54096" y="2304288"/>
            <a:ext cx="1344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P1 真实只读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3054096" y="2624328"/>
            <a:ext cx="1344168" cy="1947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E6E82"/>
                </a:solidFill>
              </a:rPr>
              <a:t>接 historian/inspection MCP，只读 shadow mode，对齐真实在线数据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84064" y="1234440"/>
            <a:ext cx="1664208" cy="502920"/>
          </a:xfrm>
          <a:prstGeom prst="roundRect">
            <a:avLst>
              <a:gd name="adj" fmla="val 10909"/>
            </a:avLst>
          </a:prstGeom>
          <a:solidFill>
            <a:srgbClr val="E5F6EE"/>
          </a:solidFill>
          <a:ln w="11430">
            <a:solidFill>
              <a:srgbClr val="1987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9784" y="1431036"/>
            <a:ext cx="15727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198754"/>
                </a:solidFill>
              </a:rPr>
              <a:t>P2 人工确认写入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6748272" y="1490472"/>
            <a:ext cx="457200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84064" y="2148840"/>
            <a:ext cx="1664208" cy="25146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2276856"/>
            <a:ext cx="0" cy="2258568"/>
          </a:xfrm>
          <a:prstGeom prst="line">
            <a:avLst/>
          </a:prstGeom>
          <a:noFill/>
          <a:ln w="27940">
            <a:solidFill>
              <a:srgbClr val="198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6944" y="2304288"/>
            <a:ext cx="1344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P2 人工确认写入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5266944" y="2624328"/>
            <a:ext cx="1344168" cy="1947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E6E82"/>
                </a:solidFill>
              </a:rPr>
              <a:t>低风险参数、人工批准、PLC 写入回读、自动生成实验账本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296912" y="1234440"/>
            <a:ext cx="1664208" cy="502920"/>
          </a:xfrm>
          <a:prstGeom prst="roundRect">
            <a:avLst>
              <a:gd name="adj" fmla="val 10909"/>
            </a:avLst>
          </a:prstGeom>
          <a:solidFill>
            <a:srgbClr val="FFF1D8"/>
          </a:solidFill>
          <a:ln w="11430">
            <a:solidFill>
              <a:srgbClr val="C77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2632" y="1431036"/>
            <a:ext cx="15727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C77700"/>
                </a:solidFill>
              </a:rPr>
              <a:t>P3 半自动研发</a:t>
            </a:r>
            <a:endParaRPr lang="en-US" sz="790" dirty="0"/>
          </a:p>
        </p:txBody>
      </p:sp>
      <p:sp>
        <p:nvSpPr>
          <p:cNvPr id="28" name="Shape 26"/>
          <p:cNvSpPr/>
          <p:nvPr/>
        </p:nvSpPr>
        <p:spPr>
          <a:xfrm>
            <a:off x="8961120" y="1490472"/>
            <a:ext cx="457200" cy="0"/>
          </a:xfrm>
          <a:prstGeom prst="line">
            <a:avLst/>
          </a:prstGeom>
          <a:noFill/>
          <a:ln w="12700">
            <a:solidFill>
              <a:srgbClr val="5E6E8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96912" y="2148840"/>
            <a:ext cx="1664208" cy="25146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33488" y="2276856"/>
            <a:ext cx="0" cy="2258568"/>
          </a:xfrm>
          <a:prstGeom prst="line">
            <a:avLst/>
          </a:prstGeom>
          <a:noFill/>
          <a:ln w="27940">
            <a:solidFill>
              <a:srgbClr val="C777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9792" y="2304288"/>
            <a:ext cx="1344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P3 半自动研发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7479792" y="2624328"/>
            <a:ext cx="1344168" cy="1947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E6E82"/>
                </a:solidFill>
              </a:rPr>
              <a:t>深环 DOE/响应面/贝叶斯建议，快环安全执行和异常暂停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509760" y="1234440"/>
            <a:ext cx="1664208" cy="502920"/>
          </a:xfrm>
          <a:prstGeom prst="roundRect">
            <a:avLst>
              <a:gd name="adj" fmla="val 10909"/>
            </a:avLst>
          </a:prstGeom>
          <a:solidFill>
            <a:srgbClr val="FFF1D8"/>
          </a:solidFill>
          <a:ln w="11430">
            <a:solidFill>
              <a:srgbClr val="C77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1431036"/>
            <a:ext cx="15727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C77700"/>
                </a:solidFill>
              </a:rPr>
              <a:t>P4 多牌号沉淀</a:t>
            </a:r>
            <a:endParaRPr lang="en-US" sz="790" dirty="0"/>
          </a:p>
        </p:txBody>
      </p:sp>
      <p:sp>
        <p:nvSpPr>
          <p:cNvPr id="35" name="Shape 33"/>
          <p:cNvSpPr/>
          <p:nvPr/>
        </p:nvSpPr>
        <p:spPr>
          <a:xfrm>
            <a:off x="9509760" y="2148840"/>
            <a:ext cx="1664208" cy="25146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46336" y="2276856"/>
            <a:ext cx="0" cy="2258568"/>
          </a:xfrm>
          <a:prstGeom prst="line">
            <a:avLst/>
          </a:prstGeom>
          <a:noFill/>
          <a:ln w="27940">
            <a:solidFill>
              <a:srgbClr val="C777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92640" y="2304288"/>
            <a:ext cx="1344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P4 多牌号沉淀</a:t>
            </a:r>
            <a:endParaRPr lang="en-US" sz="1160" dirty="0"/>
          </a:p>
        </p:txBody>
      </p:sp>
      <p:sp>
        <p:nvSpPr>
          <p:cNvPr id="38" name="Text 36"/>
          <p:cNvSpPr/>
          <p:nvPr/>
        </p:nvSpPr>
        <p:spPr>
          <a:xfrm>
            <a:off x="9692640" y="2624328"/>
            <a:ext cx="1344168" cy="1947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5E6E82"/>
                </a:solidFill>
              </a:rPr>
              <a:t>best recipe 库、参数禁区、慢标签校准和跨牌号迁移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14400" y="5349240"/>
            <a:ext cx="10332720" cy="411480"/>
          </a:xfrm>
          <a:prstGeom prst="roundRect">
            <a:avLst>
              <a:gd name="adj" fmla="val 13333"/>
            </a:avLst>
          </a:prstGeom>
          <a:solidFill>
            <a:srgbClr val="EEEAFE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0976" y="5477256"/>
            <a:ext cx="0" cy="155448"/>
          </a:xfrm>
          <a:prstGeom prst="line">
            <a:avLst/>
          </a:prstGeom>
          <a:noFill/>
          <a:ln w="27940">
            <a:solidFill>
              <a:srgbClr val="6D5B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5504688"/>
            <a:ext cx="10012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02033"/>
                </a:solidFill>
              </a:rPr>
              <a:t>建议优先级</a:t>
            </a:r>
            <a:endParaRPr lang="en-US" sz="1160" dirty="0"/>
          </a:p>
        </p:txBody>
      </p:sp>
      <p:sp>
        <p:nvSpPr>
          <p:cNvPr id="42" name="Text 40"/>
          <p:cNvSpPr/>
          <p:nvPr/>
        </p:nvSpPr>
        <p:spPr>
          <a:xfrm>
            <a:off x="1097280" y="5669280"/>
            <a:ext cx="10012680" cy="155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E6E82"/>
                </a:solidFill>
              </a:rPr>
              <a:t>先让模拟闭环和真实只读 shadow mode 稳定，再进入人工确认写入；半自动调参必须排在安全门和账本之后。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02920" y="6199632"/>
            <a:ext cx="11109960" cy="0"/>
          </a:xfrm>
          <a:prstGeom prst="line">
            <a:avLst/>
          </a:prstGeom>
          <a:noFill/>
          <a:ln w="7620">
            <a:solidFill>
              <a:srgbClr val="D8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6364224"/>
            <a:ext cx="38404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5E6E82"/>
                </a:solidFill>
              </a:rPr>
              <a:t>BOPET Online R&amp;D Optimization Control Platform</a:t>
            </a:r>
            <a:endParaRPr lang="en-US" sz="640" dirty="0"/>
          </a:p>
        </p:txBody>
      </p:sp>
      <p:sp>
        <p:nvSpPr>
          <p:cNvPr id="45" name="Text 43"/>
          <p:cNvSpPr/>
          <p:nvPr/>
        </p:nvSpPr>
        <p:spPr>
          <a:xfrm>
            <a:off x="11301984" y="6364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563EB"/>
                </a:solidFill>
              </a:rPr>
              <a:t>11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6192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2384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4768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33104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17152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9296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53344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37392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768096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152144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1536192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1920240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2304288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2688336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072384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3456432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4224528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608576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992624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5376672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5760720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144768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4445">
            <a:solidFill>
              <a:srgbClr val="24445D">
                <a:alpha val="5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658368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最终方案：把研发优化变成可执行的工业闭环</a:t>
            </a:r>
            <a:endParaRPr lang="en-US" sz="2500" dirty="0"/>
          </a:p>
        </p:txBody>
      </p:sp>
      <p:sp>
        <p:nvSpPr>
          <p:cNvPr id="53" name="Text 51"/>
          <p:cNvSpPr/>
          <p:nvPr/>
        </p:nvSpPr>
        <p:spPr>
          <a:xfrm>
            <a:off x="658368" y="1207008"/>
            <a:ext cx="8961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9EA"/>
                </a:solidFill>
              </a:rPr>
              <a:t>不是让模型“猜最优参数”，而是让三类 Agent 在安全 MCP 约束下持续做高质量研发试验。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04672" y="1874520"/>
            <a:ext cx="384048" cy="384048"/>
          </a:xfrm>
          <a:prstGeom prst="ellipse">
            <a:avLst/>
          </a:prstGeom>
          <a:solidFill>
            <a:srgbClr val="7DD3FC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688" y="2002536"/>
            <a:ext cx="128016" cy="731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A2B"/>
                </a:solidFill>
              </a:rPr>
              <a:t>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417320" y="1901952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质量工程师 Agent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794760" y="1920240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9EA"/>
                </a:solidFill>
              </a:rPr>
              <a:t>把在线厚度/双折射转成结构化诊断和优化目标。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04672" y="2679192"/>
            <a:ext cx="384048" cy="38404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2688" y="2807208"/>
            <a:ext cx="128016" cy="731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A2B"/>
                </a:solidFill>
              </a:rPr>
              <a:t>2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417320" y="270662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研发工程师 Agent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794760" y="2724912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9EA"/>
                </a:solidFill>
              </a:rPr>
              <a:t>结合本体/历史/诊断报告设计下一轮 DOE 或局部搜索。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04672" y="3483864"/>
            <a:ext cx="384048" cy="384048"/>
          </a:xfrm>
          <a:prstGeom prst="ellipse">
            <a:avLst/>
          </a:prstGeom>
          <a:solidFill>
            <a:srgbClr val="86EFAC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2688" y="3611880"/>
            <a:ext cx="128016" cy="731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A2B"/>
                </a:solidFill>
              </a:rPr>
              <a:t>3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417320" y="351129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工艺工程师 Agent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794760" y="3529584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9EA"/>
                </a:solidFill>
              </a:rPr>
              <a:t>通过 MCP 发送受限设定值请求，执行后回读和记账。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04672" y="4288536"/>
            <a:ext cx="384048" cy="384048"/>
          </a:xfrm>
          <a:prstGeom prst="ellipse">
            <a:avLst/>
          </a:prstGeom>
          <a:solidFill>
            <a:srgbClr val="FCA5A5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32688" y="4416552"/>
            <a:ext cx="128016" cy="731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A2B"/>
                </a:solidFill>
              </a:rPr>
              <a:t>4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417320" y="4315968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黑盒客户端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794760" y="4334256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9EA"/>
                </a:solidFill>
              </a:rPr>
              <a:t>底层响应未知，只通过 MCP 工具和在线检测暴露外部行为。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14400" y="5440680"/>
            <a:ext cx="10241280" cy="502920"/>
          </a:xfrm>
          <a:prstGeom prst="roundRect">
            <a:avLst>
              <a:gd name="adj" fmla="val 10909"/>
            </a:avLst>
          </a:prstGeom>
          <a:solidFill>
            <a:srgbClr val="102A43"/>
          </a:solidFill>
          <a:ln w="12700">
            <a:solidFill>
              <a:srgbClr val="7DD3FC">
                <a:alpha val="6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43000" y="5641848"/>
            <a:ext cx="97840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7DD3FC"/>
                </a:solidFill>
              </a:rPr>
              <a:t>下一步：把真实 historian / inspection / safety / PLC gateway 做成 MCP adapter，先跑 shadow mode，再进入人工确认写入。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4048</Words>
  <Application>WPS 演示</Application>
  <PresentationFormat>On-screen Show (16:9)</PresentationFormat>
  <Paragraphs>416</Paragraphs>
  <Slides>11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汉仪旗黑</vt:lpstr>
      <vt:lpstr>微软雅黑</vt:lpstr>
      <vt:lpstr>Calibri</vt:lpstr>
      <vt:lpstr>Helvetica Neue</vt:lpstr>
      <vt:lpstr>汉仪书宋二KW</vt:lpstr>
      <vt:lpstr>宋体</vt:lpstr>
      <vt:lpstr>Arial Unicode MS</vt:lpstr>
      <vt:lpstr>等线</vt:lpstr>
      <vt:lpstr>汉仪中等线KW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Industrial Deep Diagnostic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BOPET 在线研发优化控制平台架构方案</dc:title>
  <dc:creator>Codex</dc:creator>
  <dc:subject>BOPET 在线研发优化控制平台</dc:subject>
  <cp:lastModifiedBy>QnQ</cp:lastModifiedBy>
  <cp:revision>6</cp:revision>
  <dcterms:created xsi:type="dcterms:W3CDTF">2026-06-11T13:38:11Z</dcterms:created>
  <dcterms:modified xsi:type="dcterms:W3CDTF">2026-06-11T13:38:11Z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586C48CBF8AF224370B72A6A695C0343_42</vt:lpwstr>
  </property>
  <property fmtid="{D5CDD505-2E9C-101B-9397-08002B2CF9AE}" pid="3" name="KSOProductBuildVer">
    <vt:lpwstr>2052-12.1.25895.25895</vt:lpwstr>
  </property>
</Properties>
</file>